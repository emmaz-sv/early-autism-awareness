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52"/>
    <p:restoredTop sz="94647"/>
  </p:normalViewPr>
  <p:slideViewPr>
    <p:cSldViewPr snapToGrid="0">
      <p:cViewPr varScale="1">
        <p:scale>
          <a:sx n="149" d="100"/>
          <a:sy n="149" d="100"/>
        </p:scale>
        <p:origin x="192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  <a:t>10/18/26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Welcome families. Introduce yourself and Sandi. Audience: parents of children ages 0–5. DMV-focused resources.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Thank Hope Chinese School. Introduce Emma and Sandi. Emphasize accessible U.S. screening pathways.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Bridge the information gap for Chinese-speaking families in the DMV.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Brain size ~80% adult by age 3, ~90% by age 5. Autism sometimes detectable at 18 months or younger. Earlier support generally better outcomes.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Neuroplasticity. Starting support earlier is generally associated with better outcomes.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Normalize barriers. Referral does not require SSN; ask ITC about anything else.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AAP/CDC guidance: monitoring, standardized screens at least 9/18/30 mo, autism screen 18 and 24 mo, act on regression, extra screening anytime; checklists do not replace formal screening.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CDC 2022: name response by ~9 months; pretend play by ~30 months. Children develop at different rates.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Communication and sensory/repetitive signs. Golden rule: prompt pediatrician evaluation for regression.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Four things to watch. This list is not a screening tool; ask pediatrician about M-CHAT-R/F if unsure.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ITC (703) 246-7121 is the single point of entry for ages 0–3. No SSN needed to make a referral. Child Find 571-423-4121.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CDC Act Early, Autism Speaks 100-Day Kit (4 and under), NIH, project website.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Observe, ask pediatrician for M-CHAT-R/F, full evaluation if needed, start via ITC or Child Find; no SSN for referral.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Pamphlet, track milestones, call pediatrician or ITC (703) 246-7121, scan website.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Early detection, timely support. Do not wait. Earlier support generally better. Referral does not require SSN.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Q&amp;A. Leave email, website, and Fairfax ITC (703) 246-7121 on screen.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Lef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Right"/>
          <p:cNvSpPr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0" name="AccentBar"/>
          <p:cNvSpPr txBox="1"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3B5CBF"/>
          </a:solidFill>
          <a:ln>
            <a:noFill/>
          </a:ln>
        </p:spPr>
        <p:txBody>
          <a:bodyPr/>
          <a:lstStyle/>
          <a:p>
            <a:endParaRPr lang="en-US" sz="100">
              <a:solidFill>
                <a:srgbClr val="3B5CBF"/>
              </a:solidFill>
            </a:endParaRPr>
          </a:p>
        </p:txBody>
      </p:sp>
      <p:sp>
        <p:nvSpPr>
          <p:cNvPr id="100001" name="Footer"/>
          <p:cNvSpPr txBox="1"/>
          <p:nvPr/>
        </p:nvSpPr>
        <p:spPr>
          <a:xfrm>
            <a:off x="457200" y="6462000"/>
            <a:ext cx="11160000" cy="28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="ctr"/>
          <a:lstStyle/>
          <a:p>
            <a:pPr algn="l"/>
            <a:r>
              <a:rPr lang="en-US" sz="1200">
                <a:solidFill>
                  <a:srgbClr val="3D5775"/>
                </a:solidFill>
                <a:latin typeface="Calibri"/>
                <a:ea typeface="PingFang SC"/>
              </a:rPr>
              <a:t>Hope Chinese School (HCSTC) · Marshall High School</a:t>
            </a:r>
          </a:p>
        </p:txBody>
      </p:sp>
      <p:sp>
        <p:nvSpPr>
          <p:cNvPr id="100002" name="TextBox 3"/>
          <p:cNvSpPr txBox="1"/>
          <p:nvPr/>
        </p:nvSpPr>
        <p:spPr>
          <a:xfrm>
            <a:off x="540000" y="648000"/>
            <a:ext cx="10800000" cy="36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="ctr"/>
          <a:lstStyle/>
          <a:p>
            <a:pPr algn="l"/>
            <a:r>
              <a:rPr lang="en-US" sz="1600" b="1">
                <a:solidFill>
                  <a:srgbClr val="3B5CBF"/>
                </a:solidFill>
                <a:latin typeface="Calibri"/>
                <a:ea typeface="PingFang SC"/>
              </a:rPr>
              <a:t>HOPE CHINESE SCHOOL · HCSTC</a:t>
            </a:r>
          </a:p>
        </p:txBody>
      </p:sp>
      <p:sp>
        <p:nvSpPr>
          <p:cNvPr id="100003" name="TextBox 4"/>
          <p:cNvSpPr txBox="1"/>
          <p:nvPr/>
        </p:nvSpPr>
        <p:spPr>
          <a:xfrm>
            <a:off x="540000" y="1080000"/>
            <a:ext cx="10980000" cy="72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="ctr"/>
          <a:lstStyle/>
          <a:p>
            <a:pPr algn="l"/>
            <a:r>
              <a:rPr lang="en-US" sz="4000" b="1">
                <a:solidFill>
                  <a:srgbClr val="0B1E3A"/>
                </a:solidFill>
                <a:latin typeface="Georgia"/>
                <a:ea typeface="PingFang SC"/>
              </a:rPr>
              <a:t>自闭症早期征兆与及时干预</a:t>
            </a:r>
          </a:p>
        </p:txBody>
      </p:sp>
      <p:sp>
        <p:nvSpPr>
          <p:cNvPr id="100004" name="TextBox 5"/>
          <p:cNvSpPr txBox="1"/>
          <p:nvPr/>
        </p:nvSpPr>
        <p:spPr>
          <a:xfrm>
            <a:off x="540000" y="1836000"/>
            <a:ext cx="10980000" cy="504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="ctr"/>
          <a:lstStyle/>
          <a:p>
            <a:pPr algn="l"/>
            <a:r>
              <a:rPr lang="en-US" sz="2600">
                <a:solidFill>
                  <a:srgbClr val="3D5775"/>
                </a:solidFill>
                <a:latin typeface="Calibri"/>
                <a:ea typeface="PingFang SC"/>
              </a:rPr>
              <a:t>Early Autism Signs &amp; Timely Intervention</a:t>
            </a:r>
          </a:p>
        </p:txBody>
      </p:sp>
      <p:sp>
        <p:nvSpPr>
          <p:cNvPr id="100005" name="TextBox 6"/>
          <p:cNvSpPr txBox="1"/>
          <p:nvPr/>
        </p:nvSpPr>
        <p:spPr>
          <a:xfrm>
            <a:off x="540000" y="2448000"/>
            <a:ext cx="10800000" cy="1224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="t"/>
          <a:lstStyle/>
          <a:p>
            <a:pPr algn="l"/>
            <a:r>
              <a:rPr lang="en-US" sz="1800">
                <a:solidFill>
                  <a:srgbClr val="0B1E3A"/>
                </a:solidFill>
                <a:latin typeface="Calibri"/>
                <a:ea typeface="PingFang SC"/>
              </a:rPr>
              <a:t>希望中文学校 · 泰森角校区 · Marshall High School 食堂</a:t>
            </a:r>
          </a:p>
          <a:p>
            <a:pPr algn="l"/>
            <a:r>
              <a:rPr lang="en-US" sz="1800">
                <a:solidFill>
                  <a:srgbClr val="0B1E3A"/>
                </a:solidFill>
                <a:latin typeface="Calibri"/>
                <a:ea typeface="PingFang SC"/>
              </a:rPr>
              <a:t>周日 · 2026年10月25日 · 下午 3:00–4:00</a:t>
            </a:r>
          </a:p>
          <a:p>
            <a:pPr algn="l"/>
            <a:r>
              <a:rPr lang="en-US" sz="1800">
                <a:solidFill>
                  <a:srgbClr val="0B1E3A"/>
                </a:solidFill>
                <a:latin typeface="Calibri"/>
                <a:ea typeface="PingFang SC"/>
              </a:rPr>
              <a:t>Sunday, Oct 25, 2026 · 3:00–4:00 p.m. · Cafeteria</a:t>
            </a:r>
          </a:p>
        </p:txBody>
      </p:sp>
      <p:sp>
        <p:nvSpPr>
          <p:cNvPr id="100006" name="TextBox 7"/>
          <p:cNvSpPr txBox="1"/>
          <p:nvPr/>
        </p:nvSpPr>
        <p:spPr>
          <a:xfrm>
            <a:off x="540000" y="3780000"/>
            <a:ext cx="10800000" cy="864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="t"/>
          <a:lstStyle/>
          <a:p>
            <a:pPr algn="l"/>
            <a:r>
              <a:rPr lang="en-US" sz="1800">
                <a:solidFill>
                  <a:srgbClr val="0B1E3A"/>
                </a:solidFill>
                <a:latin typeface="Calibri"/>
                <a:ea typeface="PingFang SC"/>
              </a:rPr>
              <a:t>Emma Zheng · Early Autism Awareness Project</a:t>
            </a:r>
          </a:p>
          <a:p>
            <a:pPr algn="l"/>
            <a:r>
              <a:rPr lang="en-US" sz="1800">
                <a:solidFill>
                  <a:srgbClr val="0B1E3A"/>
                </a:solidFill>
                <a:latin typeface="Calibri"/>
                <a:ea typeface="PingFang SC"/>
              </a:rPr>
              <a:t>Guest: Sandi Horton-Lafferty · FCPS Early Childhood Assessment Team (ECAT)</a:t>
            </a:r>
          </a:p>
        </p:txBody>
      </p:sp>
      <p:sp>
        <p:nvSpPr>
          <p:cNvPr id="100007" name="TextBox 8"/>
          <p:cNvSpPr txBox="1"/>
          <p:nvPr/>
        </p:nvSpPr>
        <p:spPr>
          <a:xfrm>
            <a:off x="540000" y="4824000"/>
            <a:ext cx="10800000" cy="504000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txBody>
          <a:bodyPr anchor="ctr"/>
          <a:lstStyle/>
          <a:p>
            <a:pPr algn="l"/>
            <a:r>
              <a:rPr lang="en-US" sz="1600" b="1">
                <a:solidFill>
                  <a:srgbClr val="3B5CBF"/>
                </a:solidFill>
                <a:latin typeface="Calibri"/>
                <a:ea typeface="PingFang SC"/>
              </a:rPr>
              <a:t>中英双语  ·  北维州 / DMV 资源  ·  面向 0–5 岁幼儿家长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ntroduction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8" name="AccentBar"/>
          <p:cNvSpPr txBox="1"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3B5CBF"/>
          </a:solidFill>
          <a:ln>
            <a:noFill/>
          </a:ln>
        </p:spPr>
        <p:txBody>
          <a:bodyPr/>
          <a:lstStyle/>
          <a:p>
            <a:endParaRPr lang="en-US" sz="100">
              <a:solidFill>
                <a:srgbClr val="3B5CBF"/>
              </a:solidFill>
            </a:endParaRPr>
          </a:p>
        </p:txBody>
      </p:sp>
      <p:sp>
        <p:nvSpPr>
          <p:cNvPr id="100009" name="Footer"/>
          <p:cNvSpPr txBox="1"/>
          <p:nvPr/>
        </p:nvSpPr>
        <p:spPr>
          <a:xfrm>
            <a:off x="457200" y="6462000"/>
            <a:ext cx="11160000" cy="28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="ctr"/>
          <a:lstStyle/>
          <a:p>
            <a:pPr algn="l"/>
            <a:r>
              <a:rPr lang="en-US" sz="1200">
                <a:solidFill>
                  <a:srgbClr val="3D5775"/>
                </a:solidFill>
                <a:latin typeface="Calibri"/>
                <a:ea typeface="PingFang SC"/>
              </a:rPr>
              <a:t>Early Autism Awareness Project · HCSTC · Oct 25, 2026</a:t>
            </a:r>
          </a:p>
        </p:txBody>
      </p:sp>
      <p:sp>
        <p:nvSpPr>
          <p:cNvPr id="100010" name="SlideTitle"/>
          <p:cNvSpPr txBox="1"/>
          <p:nvPr/>
        </p:nvSpPr>
        <p:spPr>
          <a:xfrm>
            <a:off x="540000" y="198000"/>
            <a:ext cx="10980000" cy="936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="t"/>
          <a:lstStyle/>
          <a:p>
            <a:pPr algn="l"/>
            <a:r>
              <a:rPr lang="en-US" sz="3000" b="1">
                <a:solidFill>
                  <a:srgbClr val="0B1E3A"/>
                </a:solidFill>
                <a:latin typeface="Georgia"/>
                <a:ea typeface="PingFang SC"/>
              </a:rPr>
              <a:t>介绍</a:t>
            </a:r>
          </a:p>
          <a:p>
            <a:pPr algn="l"/>
            <a:r>
              <a:rPr lang="en-US" sz="3000" b="1">
                <a:solidFill>
                  <a:srgbClr val="0B1E3A"/>
                </a:solidFill>
                <a:latin typeface="Georgia"/>
                <a:ea typeface="PingFang SC"/>
              </a:rPr>
              <a:t>INTRODUCTION</a:t>
            </a:r>
          </a:p>
        </p:txBody>
      </p:sp>
      <p:sp>
        <p:nvSpPr>
          <p:cNvPr id="100011" name="TextBox 4"/>
          <p:cNvSpPr txBox="1"/>
          <p:nvPr/>
        </p:nvSpPr>
        <p:spPr>
          <a:xfrm>
            <a:off x="540000" y="1260000"/>
            <a:ext cx="10980000" cy="486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="t"/>
          <a:lstStyle/>
          <a:p>
            <a:pPr algn="l"/>
            <a:r>
              <a:rPr lang="en-US" sz="1900">
                <a:solidFill>
                  <a:srgbClr val="0B1E3A"/>
                </a:solidFill>
                <a:latin typeface="Calibri"/>
                <a:ea typeface="PingFang SC"/>
              </a:rPr>
              <a:t>大家好！感谢希望中文学校泰森校区的家长们今天来到这里。</a:t>
            </a:r>
          </a:p>
          <a:p>
            <a:pPr algn="l"/>
            <a:r>
              <a:rPr lang="en-US" sz="1900">
                <a:solidFill>
                  <a:srgbClr val="0B1E3A"/>
                </a:solidFill>
                <a:latin typeface="Calibri"/>
                <a:ea typeface="PingFang SC"/>
              </a:rPr>
              <a:t>Hello everyone! Thank you for joining us at Hope Chinese School (Tysons).</a:t>
            </a:r>
          </a:p>
          <a:p>
            <a:pPr algn="l"/>
            <a:endParaRPr lang="en-US" sz="1900">
              <a:solidFill>
                <a:srgbClr val="0B1E3A"/>
              </a:solidFill>
              <a:latin typeface="Calibri"/>
              <a:ea typeface="PingFang SC"/>
            </a:endParaRPr>
          </a:p>
          <a:p>
            <a:pPr algn="l"/>
            <a:r>
              <a:rPr lang="en-US" sz="1900">
                <a:solidFill>
                  <a:srgbClr val="0B1E3A"/>
                </a:solidFill>
                <a:latin typeface="Calibri"/>
                <a:ea typeface="PingFang SC"/>
              </a:rPr>
              <a:t>我叫郑安欣（Emma Zheng）。我的项目致力于帮助华语家庭认识自闭症早期征兆，并顺利对接美国本地免费或低门槛的筛查与早期干预服务。</a:t>
            </a:r>
          </a:p>
          <a:p>
            <a:pPr algn="l"/>
            <a:r>
              <a:rPr lang="en-US" sz="1900">
                <a:solidFill>
                  <a:srgbClr val="0B1E3A"/>
                </a:solidFill>
                <a:latin typeface="Calibri"/>
                <a:ea typeface="PingFang SC"/>
              </a:rPr>
              <a:t>My project helps Chinese-speaking families recognize early autism signs and connect with accessible U.S. screening and early intervention services.</a:t>
            </a:r>
          </a:p>
          <a:p>
            <a:pPr algn="l"/>
            <a:endParaRPr lang="en-US" sz="1900">
              <a:solidFill>
                <a:srgbClr val="0B1E3A"/>
              </a:solidFill>
              <a:latin typeface="Calibri"/>
              <a:ea typeface="PingFang SC"/>
            </a:endParaRPr>
          </a:p>
          <a:p>
            <a:pPr algn="l"/>
            <a:r>
              <a:rPr lang="en-US" sz="1900">
                <a:solidFill>
                  <a:srgbClr val="0B1E3A"/>
                </a:solidFill>
                <a:latin typeface="Calibri"/>
                <a:ea typeface="PingFang SC"/>
              </a:rPr>
              <a:t>今天也邀请了 Fairfax County Public Schools 幼儿评估团队（ECAT）心理专家 Sandi Horton-Lafferty 与大家交流。</a:t>
            </a:r>
          </a:p>
          <a:p>
            <a:pPr algn="l"/>
            <a:r>
              <a:rPr lang="en-US" sz="1900">
                <a:solidFill>
                  <a:srgbClr val="0B1E3A"/>
                </a:solidFill>
                <a:latin typeface="Calibri"/>
                <a:ea typeface="PingFang SC"/>
              </a:rPr>
              <a:t>We are also joined by Sandi Horton-Lafferty, psychologist with the FCPS Early Childhood Assessment Team.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ission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2" name="AccentBar"/>
          <p:cNvSpPr txBox="1"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3B5CBF"/>
          </a:solidFill>
          <a:ln>
            <a:noFill/>
          </a:ln>
        </p:spPr>
        <p:txBody>
          <a:bodyPr/>
          <a:lstStyle/>
          <a:p>
            <a:endParaRPr lang="en-US" sz="100">
              <a:solidFill>
                <a:srgbClr val="3B5CBF"/>
              </a:solidFill>
            </a:endParaRPr>
          </a:p>
        </p:txBody>
      </p:sp>
      <p:sp>
        <p:nvSpPr>
          <p:cNvPr id="100013" name="Footer"/>
          <p:cNvSpPr txBox="1"/>
          <p:nvPr/>
        </p:nvSpPr>
        <p:spPr>
          <a:xfrm>
            <a:off x="457200" y="6462000"/>
            <a:ext cx="11160000" cy="28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="ctr"/>
          <a:lstStyle/>
          <a:p>
            <a:pPr algn="l"/>
            <a:r>
              <a:rPr lang="en-US" sz="1200">
                <a:solidFill>
                  <a:srgbClr val="3D5775"/>
                </a:solidFill>
                <a:latin typeface="Calibri"/>
                <a:ea typeface="PingFang SC"/>
              </a:rPr>
              <a:t>Early Autism Awareness Project · HCSTC · Oct 25, 2026</a:t>
            </a:r>
          </a:p>
        </p:txBody>
      </p:sp>
      <p:sp>
        <p:nvSpPr>
          <p:cNvPr id="100014" name="SlideTitle"/>
          <p:cNvSpPr txBox="1"/>
          <p:nvPr/>
        </p:nvSpPr>
        <p:spPr>
          <a:xfrm>
            <a:off x="540000" y="198000"/>
            <a:ext cx="10980000" cy="936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="t"/>
          <a:lstStyle/>
          <a:p>
            <a:pPr algn="l"/>
            <a:r>
              <a:rPr lang="en-US" sz="3000" b="1">
                <a:solidFill>
                  <a:srgbClr val="0B1E3A"/>
                </a:solidFill>
                <a:latin typeface="Georgia"/>
                <a:ea typeface="PingFang SC"/>
              </a:rPr>
              <a:t>我的使命</a:t>
            </a:r>
          </a:p>
          <a:p>
            <a:pPr algn="l"/>
            <a:r>
              <a:rPr lang="en-US" sz="3000" b="1">
                <a:solidFill>
                  <a:srgbClr val="0B1E3A"/>
                </a:solidFill>
                <a:latin typeface="Georgia"/>
                <a:ea typeface="PingFang SC"/>
              </a:rPr>
              <a:t>MY MISSION</a:t>
            </a:r>
          </a:p>
        </p:txBody>
      </p:sp>
      <p:sp>
        <p:nvSpPr>
          <p:cNvPr id="100015" name="TextBox 4"/>
          <p:cNvSpPr txBox="1"/>
          <p:nvPr/>
        </p:nvSpPr>
        <p:spPr>
          <a:xfrm>
            <a:off x="540000" y="1260000"/>
            <a:ext cx="10980000" cy="864000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txBody>
          <a:bodyPr anchor="ctr"/>
          <a:lstStyle/>
          <a:p>
            <a:pPr algn="l"/>
            <a:r>
              <a:rPr lang="en-US" sz="2200" b="1">
                <a:solidFill>
                  <a:srgbClr val="0B1E3A"/>
                </a:solidFill>
                <a:latin typeface="Calibri"/>
                <a:ea typeface="PingFang SC"/>
              </a:rPr>
              <a:t>为华府地区华语家庭弥合信息缺口。</a:t>
            </a:r>
          </a:p>
          <a:p>
            <a:pPr algn="l"/>
            <a:r>
              <a:rPr lang="en-US" sz="2200" b="1">
                <a:solidFill>
                  <a:srgbClr val="0B1E3A"/>
                </a:solidFill>
                <a:latin typeface="Calibri"/>
                <a:ea typeface="PingFang SC"/>
              </a:rPr>
              <a:t>Bridge the information gap for Chinese-speaking families in the DMV.</a:t>
            </a:r>
          </a:p>
        </p:txBody>
      </p:sp>
      <p:sp>
        <p:nvSpPr>
          <p:cNvPr id="100016" name="TextBox 5"/>
          <p:cNvSpPr txBox="1"/>
          <p:nvPr/>
        </p:nvSpPr>
        <p:spPr>
          <a:xfrm>
            <a:off x="540000" y="2340000"/>
            <a:ext cx="3528000" cy="3060000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2000" b="1">
                <a:solidFill>
                  <a:srgbClr val="0B1E3A"/>
                </a:solidFill>
                <a:latin typeface="Calibri"/>
                <a:ea typeface="PingFang SC"/>
              </a:rPr>
              <a:t>双语网站与在线筛查工具</a:t>
            </a:r>
          </a:p>
          <a:p>
            <a:pPr algn="ctr"/>
            <a:endParaRPr lang="en-US" sz="2000" b="1">
              <a:solidFill>
                <a:srgbClr val="0B1E3A"/>
              </a:solidFill>
              <a:latin typeface="Calibri"/>
              <a:ea typeface="PingFang SC"/>
            </a:endParaRPr>
          </a:p>
          <a:p>
            <a:pPr algn="ctr"/>
            <a:r>
              <a:rPr lang="en-US" sz="2000" b="1">
                <a:solidFill>
                  <a:srgbClr val="0B1E3A"/>
                </a:solidFill>
                <a:latin typeface="Calibri"/>
                <a:ea typeface="PingFang SC"/>
              </a:rPr>
              <a:t>Bilingual website &amp;</a:t>
            </a:r>
          </a:p>
          <a:p>
            <a:pPr algn="ctr"/>
            <a:r>
              <a:rPr lang="en-US" sz="2000" b="1">
                <a:solidFill>
                  <a:srgbClr val="0B1E3A"/>
                </a:solidFill>
                <a:latin typeface="Calibri"/>
                <a:ea typeface="PingFang SC"/>
              </a:rPr>
              <a:t>screening tool</a:t>
            </a:r>
          </a:p>
        </p:txBody>
      </p:sp>
      <p:sp>
        <p:nvSpPr>
          <p:cNvPr id="100017" name="TextBox 6"/>
          <p:cNvSpPr txBox="1"/>
          <p:nvPr/>
        </p:nvSpPr>
        <p:spPr>
          <a:xfrm>
            <a:off x="4284000" y="2340000"/>
            <a:ext cx="3528000" cy="3060000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2000" b="1">
                <a:solidFill>
                  <a:srgbClr val="0B1E3A"/>
                </a:solidFill>
                <a:latin typeface="Calibri"/>
                <a:ea typeface="PingFang SC"/>
              </a:rPr>
              <a:t>可免费分发的宣传手册</a:t>
            </a:r>
          </a:p>
          <a:p>
            <a:pPr algn="ctr"/>
            <a:endParaRPr lang="en-US" sz="2000" b="1">
              <a:solidFill>
                <a:srgbClr val="0B1E3A"/>
              </a:solidFill>
              <a:latin typeface="Calibri"/>
              <a:ea typeface="PingFang SC"/>
            </a:endParaRPr>
          </a:p>
          <a:p>
            <a:pPr algn="ctr"/>
            <a:r>
              <a:rPr lang="en-US" sz="2000" b="1">
                <a:solidFill>
                  <a:srgbClr val="0B1E3A"/>
                </a:solidFill>
                <a:latin typeface="Calibri"/>
                <a:ea typeface="PingFang SC"/>
              </a:rPr>
              <a:t>Free pamphlets</a:t>
            </a:r>
          </a:p>
        </p:txBody>
      </p:sp>
      <p:sp>
        <p:nvSpPr>
          <p:cNvPr id="100018" name="TextBox 7"/>
          <p:cNvSpPr txBox="1"/>
          <p:nvPr/>
        </p:nvSpPr>
        <p:spPr>
          <a:xfrm>
            <a:off x="8028000" y="2340000"/>
            <a:ext cx="3528000" cy="3060000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2000" b="1">
                <a:solidFill>
                  <a:srgbClr val="0B1E3A"/>
                </a:solidFill>
                <a:latin typeface="Calibri"/>
                <a:ea typeface="PingFang SC"/>
              </a:rPr>
              <a:t>中文学校与社区双语讲座</a:t>
            </a:r>
          </a:p>
          <a:p>
            <a:pPr algn="ctr"/>
            <a:endParaRPr lang="en-US" sz="2000" b="1">
              <a:solidFill>
                <a:srgbClr val="0B1E3A"/>
              </a:solidFill>
              <a:latin typeface="Calibri"/>
              <a:ea typeface="PingFang SC"/>
            </a:endParaRPr>
          </a:p>
          <a:p>
            <a:pPr algn="ctr"/>
            <a:r>
              <a:rPr lang="en-US" sz="2000" b="1">
                <a:solidFill>
                  <a:srgbClr val="0B1E3A"/>
                </a:solidFill>
                <a:latin typeface="Calibri"/>
                <a:ea typeface="PingFang SC"/>
              </a:rPr>
              <a:t>Workshops at Chinese</a:t>
            </a:r>
          </a:p>
          <a:p>
            <a:pPr algn="ctr"/>
            <a:r>
              <a:rPr lang="en-US" sz="2000" b="1">
                <a:solidFill>
                  <a:srgbClr val="0B1E3A"/>
                </a:solidFill>
                <a:latin typeface="Calibri"/>
                <a:ea typeface="PingFang SC"/>
              </a:rPr>
              <a:t>schools &amp; community sites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hy Matters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9" name="AccentBar"/>
          <p:cNvSpPr txBox="1"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3B5CBF"/>
          </a:solidFill>
          <a:ln>
            <a:noFill/>
          </a:ln>
        </p:spPr>
        <p:txBody>
          <a:bodyPr/>
          <a:lstStyle/>
          <a:p>
            <a:endParaRPr lang="en-US" sz="100">
              <a:solidFill>
                <a:srgbClr val="3B5CBF"/>
              </a:solidFill>
            </a:endParaRPr>
          </a:p>
        </p:txBody>
      </p:sp>
      <p:sp>
        <p:nvSpPr>
          <p:cNvPr id="100020" name="Footer"/>
          <p:cNvSpPr txBox="1"/>
          <p:nvPr/>
        </p:nvSpPr>
        <p:spPr>
          <a:xfrm>
            <a:off x="457200" y="6462000"/>
            <a:ext cx="11160000" cy="28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="ctr"/>
          <a:lstStyle/>
          <a:p>
            <a:pPr algn="l"/>
            <a:r>
              <a:rPr lang="en-US" sz="1200">
                <a:solidFill>
                  <a:srgbClr val="3D5775"/>
                </a:solidFill>
                <a:latin typeface="Calibri"/>
                <a:ea typeface="PingFang SC"/>
              </a:rPr>
              <a:t>Early Autism Awareness Project · HCSTC · Oct 25, 2026</a:t>
            </a:r>
          </a:p>
        </p:txBody>
      </p:sp>
      <p:sp>
        <p:nvSpPr>
          <p:cNvPr id="100021" name="SlideTitle"/>
          <p:cNvSpPr txBox="1"/>
          <p:nvPr/>
        </p:nvSpPr>
        <p:spPr>
          <a:xfrm>
            <a:off x="540000" y="198000"/>
            <a:ext cx="10980000" cy="936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="t"/>
          <a:lstStyle/>
          <a:p>
            <a:pPr algn="l"/>
            <a:r>
              <a:rPr lang="en-US" sz="3000" b="1">
                <a:solidFill>
                  <a:srgbClr val="0B1E3A"/>
                </a:solidFill>
                <a:latin typeface="Georgia"/>
                <a:ea typeface="PingFang SC"/>
              </a:rPr>
              <a:t>为什么这很重要</a:t>
            </a:r>
          </a:p>
          <a:p>
            <a:pPr algn="l"/>
            <a:r>
              <a:rPr lang="en-US" sz="3000" b="1">
                <a:solidFill>
                  <a:srgbClr val="0B1E3A"/>
                </a:solidFill>
                <a:latin typeface="Georgia"/>
                <a:ea typeface="PingFang SC"/>
              </a:rPr>
              <a:t>WHY THIS MATTERS</a:t>
            </a:r>
          </a:p>
        </p:txBody>
      </p:sp>
      <p:sp>
        <p:nvSpPr>
          <p:cNvPr id="100022" name="TextBox 4"/>
          <p:cNvSpPr txBox="1"/>
          <p:nvPr/>
        </p:nvSpPr>
        <p:spPr>
          <a:xfrm>
            <a:off x="540000" y="1368000"/>
            <a:ext cx="5220000" cy="3780000"/>
          </a:xfrm>
          <a:prstGeom prst="rect">
            <a:avLst/>
          </a:prstGeom>
          <a:solidFill>
            <a:srgbClr val="F0F4FE"/>
          </a:solidFill>
          <a:ln>
            <a:noFill/>
          </a:ln>
        </p:spPr>
        <p:txBody>
          <a:bodyPr anchor="t"/>
          <a:lstStyle/>
          <a:p>
            <a:pPr algn="l"/>
            <a:r>
              <a:rPr lang="en-US" sz="100">
                <a:solidFill>
                  <a:srgbClr val="F0F4FE"/>
                </a:solidFill>
                <a:latin typeface="Calibri"/>
                <a:ea typeface="PingFang SC"/>
              </a:rPr>
              <a:t> </a:t>
            </a:r>
          </a:p>
        </p:txBody>
      </p:sp>
      <p:sp>
        <p:nvSpPr>
          <p:cNvPr id="100023" name="TextBox 5"/>
          <p:cNvSpPr txBox="1"/>
          <p:nvPr/>
        </p:nvSpPr>
        <p:spPr>
          <a:xfrm>
            <a:off x="540000" y="1728000"/>
            <a:ext cx="5220000" cy="936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4400" b="1">
                <a:solidFill>
                  <a:srgbClr val="3B5CBF"/>
                </a:solidFill>
                <a:latin typeface="Georgia"/>
                <a:ea typeface="PingFang SC"/>
              </a:rPr>
              <a:t>80% → 90%</a:t>
            </a:r>
          </a:p>
        </p:txBody>
      </p:sp>
      <p:sp>
        <p:nvSpPr>
          <p:cNvPr id="100024" name="TextBox 6"/>
          <p:cNvSpPr txBox="1"/>
          <p:nvPr/>
        </p:nvSpPr>
        <p:spPr>
          <a:xfrm>
            <a:off x="648000" y="2808000"/>
            <a:ext cx="5004000" cy="198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="t"/>
          <a:lstStyle/>
          <a:p>
            <a:pPr algn="ctr"/>
            <a:r>
              <a:rPr lang="en-US" sz="1800">
                <a:solidFill>
                  <a:srgbClr val="0B1E3A"/>
                </a:solidFill>
                <a:latin typeface="Calibri"/>
                <a:ea typeface="PingFang SC"/>
              </a:rPr>
              <a:t>脑容量：3岁约达成人80%，5岁约90%</a:t>
            </a:r>
          </a:p>
          <a:p>
            <a:pPr algn="ctr"/>
            <a:r>
              <a:rPr lang="en-US" sz="1800">
                <a:solidFill>
                  <a:srgbClr val="0B1E3A"/>
                </a:solidFill>
                <a:latin typeface="Calibri"/>
                <a:ea typeface="PingFang SC"/>
              </a:rPr>
              <a:t>Brain size: ~80% of adult size by age 3, ~90% by age 5</a:t>
            </a:r>
          </a:p>
        </p:txBody>
      </p:sp>
      <p:sp>
        <p:nvSpPr>
          <p:cNvPr id="100025" name="TextBox 7"/>
          <p:cNvSpPr txBox="1"/>
          <p:nvPr/>
        </p:nvSpPr>
        <p:spPr>
          <a:xfrm>
            <a:off x="6192000" y="1368000"/>
            <a:ext cx="5220000" cy="3780000"/>
          </a:xfrm>
          <a:prstGeom prst="rect">
            <a:avLst/>
          </a:prstGeom>
          <a:solidFill>
            <a:srgbClr val="F0F4FE"/>
          </a:solidFill>
          <a:ln>
            <a:noFill/>
          </a:ln>
        </p:spPr>
        <p:txBody>
          <a:bodyPr anchor="t"/>
          <a:lstStyle/>
          <a:p>
            <a:pPr algn="l"/>
            <a:r>
              <a:rPr lang="en-US" sz="100">
                <a:solidFill>
                  <a:srgbClr val="F0F4FE"/>
                </a:solidFill>
                <a:latin typeface="Calibri"/>
                <a:ea typeface="PingFang SC"/>
              </a:rPr>
              <a:t> </a:t>
            </a:r>
          </a:p>
        </p:txBody>
      </p:sp>
      <p:sp>
        <p:nvSpPr>
          <p:cNvPr id="100026" name="TextBox 8"/>
          <p:cNvSpPr txBox="1"/>
          <p:nvPr/>
        </p:nvSpPr>
        <p:spPr>
          <a:xfrm>
            <a:off x="6192000" y="1728000"/>
            <a:ext cx="5220000" cy="936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4400" b="1">
                <a:solidFill>
                  <a:srgbClr val="3B5CBF"/>
                </a:solidFill>
                <a:latin typeface="Georgia"/>
                <a:ea typeface="PingFang SC"/>
              </a:rPr>
              <a:t>18 月</a:t>
            </a:r>
          </a:p>
        </p:txBody>
      </p:sp>
      <p:sp>
        <p:nvSpPr>
          <p:cNvPr id="100027" name="TextBox 9"/>
          <p:cNvSpPr txBox="1"/>
          <p:nvPr/>
        </p:nvSpPr>
        <p:spPr>
          <a:xfrm>
            <a:off x="6300000" y="2808000"/>
            <a:ext cx="5004000" cy="198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="t"/>
          <a:lstStyle/>
          <a:p>
            <a:pPr algn="ctr"/>
            <a:r>
              <a:rPr lang="en-US" sz="1800">
                <a:solidFill>
                  <a:srgbClr val="0B1E3A"/>
                </a:solidFill>
                <a:latin typeface="Calibri"/>
                <a:ea typeface="PingFang SC"/>
              </a:rPr>
              <a:t>自闭症有时早在18个月或更早即可被发现</a:t>
            </a:r>
          </a:p>
          <a:p>
            <a:pPr algn="ctr"/>
            <a:r>
              <a:rPr lang="en-US" sz="1800">
                <a:solidFill>
                  <a:srgbClr val="0B1E3A"/>
                </a:solidFill>
                <a:latin typeface="Calibri"/>
                <a:ea typeface="PingFang SC"/>
              </a:rPr>
              <a:t>Autism can sometimes be detected at 18 months or younger</a:t>
            </a:r>
          </a:p>
        </p:txBody>
      </p:sp>
      <p:sp>
        <p:nvSpPr>
          <p:cNvPr id="100028" name="TextBox 10"/>
          <p:cNvSpPr txBox="1"/>
          <p:nvPr/>
        </p:nvSpPr>
        <p:spPr>
          <a:xfrm>
            <a:off x="540000" y="5328000"/>
            <a:ext cx="10980000" cy="936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="t"/>
          <a:lstStyle/>
          <a:p>
            <a:pPr algn="l"/>
            <a:r>
              <a:rPr lang="en-US" sz="1600">
                <a:solidFill>
                  <a:srgbClr val="0B1E3A"/>
                </a:solidFill>
                <a:latin typeface="Calibri"/>
                <a:ea typeface="PingFang SC"/>
              </a:rPr>
              <a:t>越早识别、越早支持，通常越有利于沟通、社交与日常适应能力的长期发展。</a:t>
            </a:r>
          </a:p>
          <a:p>
            <a:pPr algn="l"/>
            <a:r>
              <a:rPr lang="en-US" sz="1600">
                <a:solidFill>
                  <a:srgbClr val="0B1E3A"/>
                </a:solidFill>
                <a:latin typeface="Calibri"/>
                <a:ea typeface="PingFang SC"/>
              </a:rPr>
              <a:t>Earlier identification and support are generally associated with better long-term communication, social, and adaptive outcomes.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I Works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29" name="AccentBar"/>
          <p:cNvSpPr txBox="1"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3B5CBF"/>
          </a:solidFill>
          <a:ln>
            <a:noFill/>
          </a:ln>
        </p:spPr>
        <p:txBody>
          <a:bodyPr/>
          <a:lstStyle/>
          <a:p>
            <a:endParaRPr lang="en-US" sz="100">
              <a:solidFill>
                <a:srgbClr val="3B5CBF"/>
              </a:solidFill>
            </a:endParaRPr>
          </a:p>
        </p:txBody>
      </p:sp>
      <p:sp>
        <p:nvSpPr>
          <p:cNvPr id="100030" name="Footer"/>
          <p:cNvSpPr txBox="1"/>
          <p:nvPr/>
        </p:nvSpPr>
        <p:spPr>
          <a:xfrm>
            <a:off x="457200" y="6462000"/>
            <a:ext cx="11160000" cy="28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="ctr"/>
          <a:lstStyle/>
          <a:p>
            <a:pPr algn="l"/>
            <a:r>
              <a:rPr lang="en-US" sz="1200">
                <a:solidFill>
                  <a:srgbClr val="3D5775"/>
                </a:solidFill>
                <a:latin typeface="Calibri"/>
                <a:ea typeface="PingFang SC"/>
              </a:rPr>
              <a:t>Early Autism Awareness Project · HCSTC · Oct 25, 2026</a:t>
            </a:r>
          </a:p>
        </p:txBody>
      </p:sp>
      <p:sp>
        <p:nvSpPr>
          <p:cNvPr id="100031" name="SlideTitle"/>
          <p:cNvSpPr txBox="1"/>
          <p:nvPr/>
        </p:nvSpPr>
        <p:spPr>
          <a:xfrm>
            <a:off x="540000" y="198000"/>
            <a:ext cx="10980000" cy="936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="t"/>
          <a:lstStyle/>
          <a:p>
            <a:pPr algn="l"/>
            <a:r>
              <a:rPr lang="en-US" sz="3000" b="1">
                <a:solidFill>
                  <a:srgbClr val="0B1E3A"/>
                </a:solidFill>
                <a:latin typeface="Georgia"/>
                <a:ea typeface="PingFang SC"/>
              </a:rPr>
              <a:t>为什么早期干预有效</a:t>
            </a:r>
          </a:p>
          <a:p>
            <a:pPr algn="l"/>
            <a:r>
              <a:rPr lang="en-US" sz="3000" b="1">
                <a:solidFill>
                  <a:srgbClr val="0B1E3A"/>
                </a:solidFill>
                <a:latin typeface="Georgia"/>
                <a:ea typeface="PingFang SC"/>
              </a:rPr>
              <a:t>EARLY INTERVENTION WORKS</a:t>
            </a:r>
          </a:p>
        </p:txBody>
      </p:sp>
      <p:sp>
        <p:nvSpPr>
          <p:cNvPr id="100032" name="TextBox 4"/>
          <p:cNvSpPr txBox="1"/>
          <p:nvPr/>
        </p:nvSpPr>
        <p:spPr>
          <a:xfrm>
            <a:off x="540000" y="1260000"/>
            <a:ext cx="10980000" cy="828000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txBody>
          <a:bodyPr anchor="ctr"/>
          <a:lstStyle/>
          <a:p>
            <a:pPr algn="l"/>
            <a:r>
              <a:rPr lang="en-US" sz="2200" b="1">
                <a:solidFill>
                  <a:srgbClr val="0B1E3A"/>
                </a:solidFill>
                <a:latin typeface="Calibri"/>
                <a:ea typeface="PingFang SC"/>
              </a:rPr>
              <a:t>神经可塑性：大脑改变的能力</a:t>
            </a:r>
          </a:p>
          <a:p>
            <a:pPr algn="l"/>
            <a:r>
              <a:rPr lang="en-US" sz="2200" b="1">
                <a:solidFill>
                  <a:srgbClr val="0B1E3A"/>
                </a:solidFill>
                <a:latin typeface="Calibri"/>
                <a:ea typeface="PingFang SC"/>
              </a:rPr>
              <a:t>Neuroplasticity: the brain's ability to change</a:t>
            </a:r>
          </a:p>
        </p:txBody>
      </p:sp>
      <p:sp>
        <p:nvSpPr>
          <p:cNvPr id="100033" name="TextBox 5"/>
          <p:cNvSpPr txBox="1"/>
          <p:nvPr/>
        </p:nvSpPr>
        <p:spPr>
          <a:xfrm>
            <a:off x="540000" y="2232000"/>
            <a:ext cx="10980000" cy="378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="t"/>
          <a:lstStyle/>
          <a:p>
            <a:pPr algn="l"/>
            <a:r>
              <a:rPr lang="en-US" sz="2200">
                <a:solidFill>
                  <a:srgbClr val="0B1E3A"/>
                </a:solidFill>
                <a:latin typeface="Calibri"/>
                <a:ea typeface="PingFang SC"/>
              </a:rPr>
              <a:t>• 早期干预可以重塑大脑连接</a:t>
            </a:r>
          </a:p>
          <a:p>
            <a:pPr algn="l"/>
            <a:r>
              <a:rPr lang="en-US" sz="2200">
                <a:solidFill>
                  <a:srgbClr val="0B1E3A"/>
                </a:solidFill>
                <a:latin typeface="Calibri"/>
                <a:ea typeface="PingFang SC"/>
              </a:rPr>
              <a:t>  Early intervention can strengthen brain connections</a:t>
            </a:r>
          </a:p>
          <a:p>
            <a:pPr algn="l"/>
            <a:endParaRPr lang="en-US" sz="2200">
              <a:solidFill>
                <a:srgbClr val="0B1E3A"/>
              </a:solidFill>
              <a:latin typeface="Calibri"/>
              <a:ea typeface="PingFang SC"/>
            </a:endParaRPr>
          </a:p>
          <a:p>
            <a:pPr algn="l"/>
            <a:r>
              <a:rPr lang="en-US" sz="2200">
                <a:solidFill>
                  <a:srgbClr val="0B1E3A"/>
                </a:solidFill>
                <a:latin typeface="Calibri"/>
                <a:ea typeface="PingFang SC"/>
              </a:rPr>
              <a:t>• 越早开始支持，通常效果越好</a:t>
            </a:r>
          </a:p>
          <a:p>
            <a:pPr algn="l"/>
            <a:r>
              <a:rPr lang="en-US" sz="2200">
                <a:solidFill>
                  <a:srgbClr val="0B1E3A"/>
                </a:solidFill>
                <a:latin typeface="Calibri"/>
                <a:ea typeface="PingFang SC"/>
              </a:rPr>
              <a:t>  Starting support earlier is generally associated with better outcomes</a:t>
            </a:r>
          </a:p>
          <a:p>
            <a:pPr algn="l"/>
            <a:endParaRPr lang="en-US" sz="2200">
              <a:solidFill>
                <a:srgbClr val="0B1E3A"/>
              </a:solidFill>
              <a:latin typeface="Calibri"/>
              <a:ea typeface="PingFang SC"/>
            </a:endParaRPr>
          </a:p>
          <a:p>
            <a:pPr algn="l"/>
            <a:r>
              <a:rPr lang="en-US" sz="2200">
                <a:solidFill>
                  <a:srgbClr val="0B1E3A"/>
                </a:solidFill>
                <a:latin typeface="Calibri"/>
                <a:ea typeface="PingFang SC"/>
              </a:rPr>
              <a:t>• 在沟通、学习和社交技能方面取得更好效果</a:t>
            </a:r>
          </a:p>
          <a:p>
            <a:pPr algn="l"/>
            <a:r>
              <a:rPr lang="en-US" sz="2200">
                <a:solidFill>
                  <a:srgbClr val="0B1E3A"/>
                </a:solidFill>
                <a:latin typeface="Calibri"/>
                <a:ea typeface="PingFang SC"/>
              </a:rPr>
              <a:t>  Better outcomes in communication, learning, and social skills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allenges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4" name="AccentBar"/>
          <p:cNvSpPr txBox="1"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3B5CBF"/>
          </a:solidFill>
          <a:ln>
            <a:noFill/>
          </a:ln>
        </p:spPr>
        <p:txBody>
          <a:bodyPr/>
          <a:lstStyle/>
          <a:p>
            <a:endParaRPr lang="en-US" sz="100">
              <a:solidFill>
                <a:srgbClr val="3B5CBF"/>
              </a:solidFill>
            </a:endParaRPr>
          </a:p>
        </p:txBody>
      </p:sp>
      <p:sp>
        <p:nvSpPr>
          <p:cNvPr id="100035" name="Footer"/>
          <p:cNvSpPr txBox="1"/>
          <p:nvPr/>
        </p:nvSpPr>
        <p:spPr>
          <a:xfrm>
            <a:off x="457200" y="6462000"/>
            <a:ext cx="11160000" cy="28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="ctr"/>
          <a:lstStyle/>
          <a:p>
            <a:pPr algn="l"/>
            <a:r>
              <a:rPr lang="en-US" sz="1200">
                <a:solidFill>
                  <a:srgbClr val="3D5775"/>
                </a:solidFill>
                <a:latin typeface="Calibri"/>
                <a:ea typeface="PingFang SC"/>
              </a:rPr>
              <a:t>Early Autism Awareness Project · HCSTC · Oct 25, 2026</a:t>
            </a:r>
          </a:p>
        </p:txBody>
      </p:sp>
      <p:sp>
        <p:nvSpPr>
          <p:cNvPr id="100036" name="SlideTitle"/>
          <p:cNvSpPr txBox="1"/>
          <p:nvPr/>
        </p:nvSpPr>
        <p:spPr>
          <a:xfrm>
            <a:off x="540000" y="198000"/>
            <a:ext cx="10980000" cy="936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="t"/>
          <a:lstStyle/>
          <a:p>
            <a:pPr algn="l"/>
            <a:r>
              <a:rPr lang="en-US" sz="3000" b="1">
                <a:solidFill>
                  <a:srgbClr val="0B1E3A"/>
                </a:solidFill>
                <a:latin typeface="Georgia"/>
                <a:ea typeface="PingFang SC"/>
              </a:rPr>
              <a:t>华语移民家庭常见挑战</a:t>
            </a:r>
          </a:p>
          <a:p>
            <a:pPr algn="l"/>
            <a:r>
              <a:rPr lang="en-US" sz="3000" b="1">
                <a:solidFill>
                  <a:srgbClr val="0B1E3A"/>
                </a:solidFill>
                <a:latin typeface="Georgia"/>
                <a:ea typeface="PingFang SC"/>
              </a:rPr>
              <a:t>COMMON CHALLENGES</a:t>
            </a:r>
          </a:p>
        </p:txBody>
      </p:sp>
      <p:sp>
        <p:nvSpPr>
          <p:cNvPr id="100037" name="TextBox 4"/>
          <p:cNvSpPr txBox="1"/>
          <p:nvPr/>
        </p:nvSpPr>
        <p:spPr>
          <a:xfrm>
            <a:off x="540000" y="1224000"/>
            <a:ext cx="3240000" cy="378000"/>
          </a:xfrm>
          <a:prstGeom prst="rect">
            <a:avLst/>
          </a:prstGeom>
          <a:solidFill>
            <a:srgbClr val="3B5CBF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Calibri"/>
                <a:ea typeface="PingFang SC"/>
              </a:rPr>
              <a:t>挑战 Challenge</a:t>
            </a:r>
          </a:p>
        </p:txBody>
      </p:sp>
      <p:sp>
        <p:nvSpPr>
          <p:cNvPr id="100038" name="TextBox 5"/>
          <p:cNvSpPr txBox="1"/>
          <p:nvPr/>
        </p:nvSpPr>
        <p:spPr>
          <a:xfrm>
            <a:off x="3852000" y="1224000"/>
            <a:ext cx="7668000" cy="378000"/>
          </a:xfrm>
          <a:prstGeom prst="rect">
            <a:avLst/>
          </a:prstGeom>
          <a:solidFill>
            <a:srgbClr val="3B5CBF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Calibri"/>
                <a:ea typeface="PingFang SC"/>
              </a:rPr>
              <a:t>说明 What it means</a:t>
            </a:r>
          </a:p>
        </p:txBody>
      </p:sp>
      <p:sp>
        <p:nvSpPr>
          <p:cNvPr id="100039" name="TextBox 6"/>
          <p:cNvSpPr txBox="1"/>
          <p:nvPr/>
        </p:nvSpPr>
        <p:spPr>
          <a:xfrm>
            <a:off x="540000" y="1656000"/>
            <a:ext cx="3240000" cy="1080000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txBody>
          <a:bodyPr anchor="ctr"/>
          <a:lstStyle/>
          <a:p>
            <a:pPr algn="l"/>
            <a:r>
              <a:rPr lang="en-US" sz="1600" b="1">
                <a:solidFill>
                  <a:srgbClr val="0B1E3A"/>
                </a:solidFill>
                <a:latin typeface="Calibri"/>
                <a:ea typeface="PingFang SC"/>
              </a:rPr>
              <a:t>语言与文化隔阂</a:t>
            </a:r>
          </a:p>
          <a:p>
            <a:pPr algn="l"/>
            <a:r>
              <a:rPr lang="en-US" sz="1600" b="1">
                <a:solidFill>
                  <a:srgbClr val="0B1E3A"/>
                </a:solidFill>
                <a:latin typeface="Calibri"/>
                <a:ea typeface="PingFang SC"/>
              </a:rPr>
              <a:t>Language &amp; culture</a:t>
            </a:r>
          </a:p>
        </p:txBody>
      </p:sp>
      <p:sp>
        <p:nvSpPr>
          <p:cNvPr id="100040" name="TextBox 7"/>
          <p:cNvSpPr txBox="1"/>
          <p:nvPr/>
        </p:nvSpPr>
        <p:spPr>
          <a:xfrm>
            <a:off x="3852000" y="1656000"/>
            <a:ext cx="7668000" cy="1080000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txBody>
          <a:bodyPr anchor="ctr"/>
          <a:lstStyle/>
          <a:p>
            <a:pPr algn="l"/>
            <a:r>
              <a:rPr lang="en-US" sz="1600">
                <a:solidFill>
                  <a:srgbClr val="0B1E3A"/>
                </a:solidFill>
                <a:latin typeface="Calibri"/>
                <a:ea typeface="PingFang SC"/>
              </a:rPr>
              <a:t>不清楚如何用英语向医生描述担忧</a:t>
            </a:r>
          </a:p>
          <a:p>
            <a:pPr algn="l"/>
            <a:r>
              <a:rPr lang="en-US" sz="1600">
                <a:solidFill>
                  <a:srgbClr val="0B1E3A"/>
                </a:solidFill>
                <a:latin typeface="Calibri"/>
                <a:ea typeface="PingFang SC"/>
              </a:rPr>
              <a:t>Hard to describe concerns to pediatricians in English</a:t>
            </a:r>
          </a:p>
        </p:txBody>
      </p:sp>
      <p:sp>
        <p:nvSpPr>
          <p:cNvPr id="100041" name="TextBox 8"/>
          <p:cNvSpPr txBox="1"/>
          <p:nvPr/>
        </p:nvSpPr>
        <p:spPr>
          <a:xfrm>
            <a:off x="540000" y="2790000"/>
            <a:ext cx="3240000" cy="10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/>
            <a:r>
              <a:rPr lang="en-US" sz="1600" b="1">
                <a:solidFill>
                  <a:srgbClr val="0B1E3A"/>
                </a:solidFill>
                <a:latin typeface="Calibri"/>
                <a:ea typeface="PingFang SC"/>
              </a:rPr>
              <a:t>等待观望</a:t>
            </a:r>
          </a:p>
          <a:p>
            <a:pPr algn="l"/>
            <a:r>
              <a:rPr lang="en-US" sz="1600" b="1">
                <a:solidFill>
                  <a:srgbClr val="0B1E3A"/>
                </a:solidFill>
                <a:latin typeface="Calibri"/>
                <a:ea typeface="PingFang SC"/>
              </a:rPr>
              <a:t>"Wait and see"</a:t>
            </a:r>
          </a:p>
        </p:txBody>
      </p:sp>
      <p:sp>
        <p:nvSpPr>
          <p:cNvPr id="100042" name="TextBox 9"/>
          <p:cNvSpPr txBox="1"/>
          <p:nvPr/>
        </p:nvSpPr>
        <p:spPr>
          <a:xfrm>
            <a:off x="3852000" y="2790000"/>
            <a:ext cx="7668000" cy="10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/>
            <a:r>
              <a:rPr lang="en-US" sz="1600">
                <a:solidFill>
                  <a:srgbClr val="0B1E3A"/>
                </a:solidFill>
                <a:latin typeface="Calibri"/>
                <a:ea typeface="PingFang SC"/>
              </a:rPr>
              <a:t>错过尽早开始支持的机会</a:t>
            </a:r>
          </a:p>
          <a:p>
            <a:pPr algn="l"/>
            <a:r>
              <a:rPr lang="en-US" sz="1600">
                <a:solidFill>
                  <a:srgbClr val="0B1E3A"/>
                </a:solidFill>
                <a:latin typeface="Calibri"/>
                <a:ea typeface="PingFang SC"/>
              </a:rPr>
              <a:t>Misses the chance to start support early</a:t>
            </a:r>
          </a:p>
        </p:txBody>
      </p:sp>
      <p:sp>
        <p:nvSpPr>
          <p:cNvPr id="100043" name="TextBox 10"/>
          <p:cNvSpPr txBox="1"/>
          <p:nvPr/>
        </p:nvSpPr>
        <p:spPr>
          <a:xfrm>
            <a:off x="540000" y="3924000"/>
            <a:ext cx="3240000" cy="1080000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txBody>
          <a:bodyPr anchor="ctr"/>
          <a:lstStyle/>
          <a:p>
            <a:pPr algn="l"/>
            <a:r>
              <a:rPr lang="en-US" sz="1600" b="1">
                <a:solidFill>
                  <a:srgbClr val="0B1E3A"/>
                </a:solidFill>
                <a:latin typeface="Calibri"/>
                <a:ea typeface="PingFang SC"/>
              </a:rPr>
              <a:t>不知从何开始</a:t>
            </a:r>
          </a:p>
          <a:p>
            <a:pPr algn="l"/>
            <a:r>
              <a:rPr lang="en-US" sz="1600" b="1">
                <a:solidFill>
                  <a:srgbClr val="0B1E3A"/>
                </a:solidFill>
                <a:latin typeface="Calibri"/>
                <a:ea typeface="PingFang SC"/>
              </a:rPr>
              <a:t>Where to start</a:t>
            </a:r>
          </a:p>
        </p:txBody>
      </p:sp>
      <p:sp>
        <p:nvSpPr>
          <p:cNvPr id="100044" name="TextBox 11"/>
          <p:cNvSpPr txBox="1"/>
          <p:nvPr/>
        </p:nvSpPr>
        <p:spPr>
          <a:xfrm>
            <a:off x="3852000" y="3924000"/>
            <a:ext cx="7668000" cy="1080000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txBody>
          <a:bodyPr anchor="ctr"/>
          <a:lstStyle/>
          <a:p>
            <a:pPr algn="l"/>
            <a:r>
              <a:rPr lang="en-US" sz="1600">
                <a:solidFill>
                  <a:srgbClr val="0B1E3A"/>
                </a:solidFill>
                <a:latin typeface="Calibri"/>
                <a:ea typeface="PingFang SC"/>
              </a:rPr>
              <a:t>不知道县政府、学校筛查免费且可及</a:t>
            </a:r>
          </a:p>
          <a:p>
            <a:pPr algn="l"/>
            <a:r>
              <a:rPr lang="en-US" sz="1600">
                <a:solidFill>
                  <a:srgbClr val="0B1E3A"/>
                </a:solidFill>
                <a:latin typeface="Calibri"/>
                <a:ea typeface="PingFang SC"/>
              </a:rPr>
              <a:t>Unaware that county/school screenings are free and accessible</a:t>
            </a:r>
          </a:p>
        </p:txBody>
      </p:sp>
      <p:sp>
        <p:nvSpPr>
          <p:cNvPr id="100045" name="TextBox 12"/>
          <p:cNvSpPr txBox="1"/>
          <p:nvPr/>
        </p:nvSpPr>
        <p:spPr>
          <a:xfrm>
            <a:off x="540000" y="5058000"/>
            <a:ext cx="3240000" cy="10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/>
            <a:r>
              <a:rPr lang="en-US" sz="1600" b="1">
                <a:solidFill>
                  <a:srgbClr val="0B1E3A"/>
                </a:solidFill>
                <a:latin typeface="Calibri"/>
                <a:ea typeface="PingFang SC"/>
              </a:rPr>
              <a:t>身份顾虑</a:t>
            </a:r>
          </a:p>
          <a:p>
            <a:pPr algn="l"/>
            <a:r>
              <a:rPr lang="en-US" sz="1600" b="1">
                <a:solidFill>
                  <a:srgbClr val="0B1E3A"/>
                </a:solidFill>
                <a:latin typeface="Calibri"/>
                <a:ea typeface="PingFang SC"/>
              </a:rPr>
              <a:t>Documentation worries</a:t>
            </a:r>
          </a:p>
        </p:txBody>
      </p:sp>
      <p:sp>
        <p:nvSpPr>
          <p:cNvPr id="100046" name="TextBox 13"/>
          <p:cNvSpPr txBox="1"/>
          <p:nvPr/>
        </p:nvSpPr>
        <p:spPr>
          <a:xfrm>
            <a:off x="3852000" y="5058000"/>
            <a:ext cx="7668000" cy="10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="ctr"/>
          <a:lstStyle/>
          <a:p>
            <a:pPr algn="l"/>
            <a:r>
              <a:rPr lang="en-US" sz="1600">
                <a:solidFill>
                  <a:srgbClr val="0B1E3A"/>
                </a:solidFill>
                <a:latin typeface="Calibri"/>
                <a:ea typeface="PingFang SC"/>
              </a:rPr>
              <a:t>申请转介时不需要 SSN，只需姓名和联系方式；其他问题可询问 ITC</a:t>
            </a:r>
          </a:p>
          <a:p>
            <a:pPr algn="l"/>
            <a:r>
              <a:rPr lang="en-US" sz="1600">
                <a:solidFill>
                  <a:srgbClr val="0B1E3A"/>
                </a:solidFill>
                <a:latin typeface="Calibri"/>
                <a:ea typeface="PingFang SC"/>
              </a:rPr>
              <a:t>A referral does not require an SSN, just a name and contact info; ask ITC about anything else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creening Timeline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7" name="AccentBar"/>
          <p:cNvSpPr txBox="1"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3B5CBF"/>
          </a:solidFill>
          <a:ln>
            <a:noFill/>
          </a:ln>
        </p:spPr>
        <p:txBody>
          <a:bodyPr/>
          <a:lstStyle/>
          <a:p>
            <a:endParaRPr lang="en-US" sz="100">
              <a:solidFill>
                <a:srgbClr val="3B5CBF"/>
              </a:solidFill>
            </a:endParaRPr>
          </a:p>
        </p:txBody>
      </p:sp>
      <p:sp>
        <p:nvSpPr>
          <p:cNvPr id="100048" name="Footer"/>
          <p:cNvSpPr txBox="1"/>
          <p:nvPr/>
        </p:nvSpPr>
        <p:spPr>
          <a:xfrm>
            <a:off x="457200" y="6462000"/>
            <a:ext cx="11160000" cy="28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="ctr"/>
          <a:lstStyle/>
          <a:p>
            <a:pPr algn="l"/>
            <a:r>
              <a:rPr lang="en-US" sz="1200">
                <a:solidFill>
                  <a:srgbClr val="3D5775"/>
                </a:solidFill>
                <a:latin typeface="Calibri"/>
                <a:ea typeface="PingFang SC"/>
              </a:rPr>
              <a:t>Early Autism Awareness Project · HCSTC · Oct 25, 2026</a:t>
            </a:r>
          </a:p>
        </p:txBody>
      </p:sp>
      <p:sp>
        <p:nvSpPr>
          <p:cNvPr id="100049" name="SlideTitle"/>
          <p:cNvSpPr txBox="1"/>
          <p:nvPr/>
        </p:nvSpPr>
        <p:spPr>
          <a:xfrm>
            <a:off x="540000" y="198000"/>
            <a:ext cx="10980000" cy="936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="t"/>
          <a:lstStyle/>
          <a:p>
            <a:pPr algn="l"/>
            <a:r>
              <a:rPr lang="en-US" sz="3000" b="1">
                <a:solidFill>
                  <a:srgbClr val="0B1E3A"/>
                </a:solidFill>
                <a:latin typeface="Georgia"/>
                <a:ea typeface="PingFang SC"/>
              </a:rPr>
              <a:t>美国推荐筛查时间</a:t>
            </a:r>
          </a:p>
          <a:p>
            <a:pPr algn="l"/>
            <a:r>
              <a:rPr lang="en-US" sz="3000" b="1">
                <a:solidFill>
                  <a:srgbClr val="0B1E3A"/>
                </a:solidFill>
                <a:latin typeface="Georgia"/>
                <a:ea typeface="PingFang SC"/>
              </a:rPr>
              <a:t>U.S. SCREENING TIMELINE</a:t>
            </a:r>
          </a:p>
        </p:txBody>
      </p:sp>
      <p:sp>
        <p:nvSpPr>
          <p:cNvPr id="100050" name="TextBox 4"/>
          <p:cNvSpPr txBox="1"/>
          <p:nvPr/>
        </p:nvSpPr>
        <p:spPr>
          <a:xfrm>
            <a:off x="540000" y="1188000"/>
            <a:ext cx="10980000" cy="648000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txBody>
          <a:bodyPr anchor="ctr"/>
          <a:lstStyle/>
          <a:p>
            <a:pPr algn="l"/>
            <a:r>
              <a:rPr lang="en-US" sz="1800" b="1">
                <a:solidFill>
                  <a:srgbClr val="0B1E3A"/>
                </a:solidFill>
                <a:latin typeface="Calibri"/>
                <a:ea typeface="PingFang SC"/>
              </a:rPr>
              <a:t>美国儿科学会 (AAP) / CDC 建议</a:t>
            </a:r>
          </a:p>
          <a:p>
            <a:pPr algn="l"/>
            <a:r>
              <a:rPr lang="en-US" sz="1800" b="1">
                <a:solidFill>
                  <a:srgbClr val="0B1E3A"/>
                </a:solidFill>
                <a:latin typeface="Calibri"/>
                <a:ea typeface="PingFang SC"/>
              </a:rPr>
              <a:t>American Academy of Pediatrics (AAP) / CDC guidance</a:t>
            </a:r>
          </a:p>
        </p:txBody>
      </p:sp>
      <p:sp>
        <p:nvSpPr>
          <p:cNvPr id="100051" name="TextBox 5"/>
          <p:cNvSpPr txBox="1"/>
          <p:nvPr/>
        </p:nvSpPr>
        <p:spPr>
          <a:xfrm>
            <a:off x="540000" y="1908000"/>
            <a:ext cx="10980000" cy="432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="t"/>
          <a:lstStyle/>
          <a:p>
            <a:pPr algn="l"/>
            <a:r>
              <a:rPr lang="en-US" sz="1500">
                <a:solidFill>
                  <a:srgbClr val="0B1E3A"/>
                </a:solidFill>
                <a:latin typeface="Calibri"/>
                <a:ea typeface="PingFang SC"/>
              </a:rPr>
              <a:t>• 每次体检：发育监测（developmental monitoring / surveillance）</a:t>
            </a:r>
          </a:p>
          <a:p>
            <a:pPr algn="l"/>
            <a:r>
              <a:rPr lang="en-US" sz="1500">
                <a:solidFill>
                  <a:srgbClr val="0B1E3A"/>
                </a:solidFill>
                <a:latin typeface="Calibri"/>
                <a:ea typeface="PingFang SC"/>
              </a:rPr>
              <a:t>  Developmental monitoring (surveillance) at every well-child visit</a:t>
            </a:r>
          </a:p>
          <a:p>
            <a:pPr algn="l"/>
            <a:endParaRPr lang="en-US" sz="1500">
              <a:solidFill>
                <a:srgbClr val="0B1E3A"/>
              </a:solidFill>
              <a:latin typeface="Calibri"/>
              <a:ea typeface="PingFang SC"/>
            </a:endParaRPr>
          </a:p>
          <a:p>
            <a:pPr algn="l"/>
            <a:r>
              <a:rPr lang="en-US" sz="1500">
                <a:solidFill>
                  <a:srgbClr val="0B1E3A"/>
                </a:solidFill>
                <a:latin typeface="Calibri"/>
                <a:ea typeface="PingFang SC"/>
              </a:rPr>
              <a:t>• 至少在 9、18、30 个月：标准化发育筛查</a:t>
            </a:r>
          </a:p>
          <a:p>
            <a:pPr algn="l"/>
            <a:r>
              <a:rPr lang="en-US" sz="1500">
                <a:solidFill>
                  <a:srgbClr val="0B1E3A"/>
                </a:solidFill>
                <a:latin typeface="Calibri"/>
                <a:ea typeface="PingFang SC"/>
              </a:rPr>
              <a:t>  Standardized developmental screening at least at 9, 18, and 30 months</a:t>
            </a:r>
          </a:p>
          <a:p>
            <a:pPr algn="l"/>
            <a:endParaRPr lang="en-US" sz="1500">
              <a:solidFill>
                <a:srgbClr val="0B1E3A"/>
              </a:solidFill>
              <a:latin typeface="Calibri"/>
              <a:ea typeface="PingFang SC"/>
            </a:endParaRPr>
          </a:p>
          <a:p>
            <a:pPr algn="l"/>
            <a:r>
              <a:rPr lang="en-US" sz="1500">
                <a:solidFill>
                  <a:srgbClr val="0B1E3A"/>
                </a:solidFill>
                <a:latin typeface="Calibri"/>
                <a:ea typeface="PingFang SC"/>
              </a:rPr>
              <a:t>• 18 与 24 个月：专门的自闭症筛查（如 M-CHAT-R/F；CDC 不特别认可任何单一工具）</a:t>
            </a:r>
          </a:p>
          <a:p>
            <a:pPr algn="l"/>
            <a:r>
              <a:rPr lang="en-US" sz="1500">
                <a:solidFill>
                  <a:srgbClr val="0B1E3A"/>
                </a:solidFill>
                <a:latin typeface="Calibri"/>
                <a:ea typeface="PingFang SC"/>
              </a:rPr>
              <a:t>  Autism-specific screening at 18 and 24 months (e.g., M-CHAT-R/F; CDC does not endorse any single tool)</a:t>
            </a:r>
          </a:p>
          <a:p>
            <a:pPr algn="l"/>
            <a:endParaRPr lang="en-US" sz="1500">
              <a:solidFill>
                <a:srgbClr val="0B1E3A"/>
              </a:solidFill>
              <a:latin typeface="Calibri"/>
              <a:ea typeface="PingFang SC"/>
            </a:endParaRPr>
          </a:p>
          <a:p>
            <a:pPr algn="l"/>
            <a:r>
              <a:rPr lang="en-US" sz="1500">
                <a:solidFill>
                  <a:srgbClr val="0B1E3A"/>
                </a:solidFill>
                <a:latin typeface="Calibri"/>
                <a:ea typeface="PingFang SC"/>
              </a:rPr>
              <a:t>• 任何年龄：若发现技能丧失或倒退，请尽快联系儿科医生，不要等到下次体检</a:t>
            </a:r>
          </a:p>
          <a:p>
            <a:pPr algn="l"/>
            <a:r>
              <a:rPr lang="en-US" sz="1500">
                <a:solidFill>
                  <a:srgbClr val="0B1E3A"/>
                </a:solidFill>
                <a:latin typeface="Calibri"/>
                <a:ea typeface="PingFang SC"/>
              </a:rPr>
              <a:t>  Any age: contact your pediatrician promptly if skills are lost or regress; don't wait for the next visit</a:t>
            </a:r>
          </a:p>
          <a:p>
            <a:pPr algn="l"/>
            <a:endParaRPr lang="en-US" sz="1500">
              <a:solidFill>
                <a:srgbClr val="0B1E3A"/>
              </a:solidFill>
              <a:latin typeface="Calibri"/>
              <a:ea typeface="PingFang SC"/>
            </a:endParaRPr>
          </a:p>
          <a:p>
            <a:pPr algn="l"/>
            <a:r>
              <a:rPr lang="en-US" sz="1500">
                <a:solidFill>
                  <a:srgbClr val="0B1E3A"/>
                </a:solidFill>
                <a:latin typeface="Calibri"/>
                <a:ea typeface="PingFang SC"/>
              </a:rPr>
              <a:t>• 另外：若对发育有任何担忧，可随时要求额外筛查；CDC 里程碑清单不能取代正式筛查</a:t>
            </a:r>
          </a:p>
          <a:p>
            <a:pPr algn="l"/>
            <a:r>
              <a:rPr lang="en-US" sz="1500">
                <a:solidFill>
                  <a:srgbClr val="0B1E3A"/>
                </a:solidFill>
                <a:latin typeface="Calibri"/>
                <a:ea typeface="PingFang SC"/>
              </a:rPr>
              <a:t>  Also: if you have any developmental concern, you can ask for extra screening at any time; CDC milestone checklists do not replace formal screening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arly Signs Social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52" name="AccentBar"/>
          <p:cNvSpPr txBox="1"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3B5CBF"/>
          </a:solidFill>
          <a:ln>
            <a:noFill/>
          </a:ln>
        </p:spPr>
        <p:txBody>
          <a:bodyPr/>
          <a:lstStyle/>
          <a:p>
            <a:endParaRPr lang="en-US" sz="100">
              <a:solidFill>
                <a:srgbClr val="3B5CBF"/>
              </a:solidFill>
            </a:endParaRPr>
          </a:p>
        </p:txBody>
      </p:sp>
      <p:sp>
        <p:nvSpPr>
          <p:cNvPr id="100053" name="Footer"/>
          <p:cNvSpPr txBox="1"/>
          <p:nvPr/>
        </p:nvSpPr>
        <p:spPr>
          <a:xfrm>
            <a:off x="457200" y="6462000"/>
            <a:ext cx="11160000" cy="28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="ctr"/>
          <a:lstStyle/>
          <a:p>
            <a:pPr algn="l"/>
            <a:r>
              <a:rPr lang="en-US" sz="1200">
                <a:solidFill>
                  <a:srgbClr val="3D5775"/>
                </a:solidFill>
                <a:latin typeface="Calibri"/>
                <a:ea typeface="PingFang SC"/>
              </a:rPr>
              <a:t>Early Autism Awareness Project · HCSTC · Oct 25, 2026</a:t>
            </a:r>
          </a:p>
        </p:txBody>
      </p:sp>
      <p:sp>
        <p:nvSpPr>
          <p:cNvPr id="100054" name="SlideTitle"/>
          <p:cNvSpPr txBox="1"/>
          <p:nvPr/>
        </p:nvSpPr>
        <p:spPr>
          <a:xfrm>
            <a:off x="540000" y="198000"/>
            <a:ext cx="10980000" cy="936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="t"/>
          <a:lstStyle/>
          <a:p>
            <a:pPr algn="l"/>
            <a:r>
              <a:rPr lang="en-US" sz="3000" b="1">
                <a:solidFill>
                  <a:srgbClr val="0B1E3A"/>
                </a:solidFill>
                <a:latin typeface="Georgia"/>
                <a:ea typeface="PingFang SC"/>
              </a:rPr>
              <a:t>识别早期迹象 · 社交</a:t>
            </a:r>
          </a:p>
          <a:p>
            <a:pPr algn="l"/>
            <a:r>
              <a:rPr lang="en-US" sz="3000" b="1">
                <a:solidFill>
                  <a:srgbClr val="0B1E3A"/>
                </a:solidFill>
                <a:latin typeface="Georgia"/>
                <a:ea typeface="PingFang SC"/>
              </a:rPr>
              <a:t>EARLY SIGNS · SOCIAL</a:t>
            </a:r>
          </a:p>
        </p:txBody>
      </p:sp>
      <p:sp>
        <p:nvSpPr>
          <p:cNvPr id="100055" name="TextBox 4"/>
          <p:cNvSpPr txBox="1"/>
          <p:nvPr/>
        </p:nvSpPr>
        <p:spPr>
          <a:xfrm>
            <a:off x="540000" y="1260000"/>
            <a:ext cx="10980000" cy="378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="t"/>
          <a:lstStyle/>
          <a:p>
            <a:pPr algn="l"/>
            <a:r>
              <a:rPr lang="en-US" sz="2000">
                <a:solidFill>
                  <a:srgbClr val="0B1E3A"/>
                </a:solidFill>
                <a:latin typeface="Calibri"/>
                <a:ea typeface="PingFang SC"/>
              </a:rPr>
              <a:t>• 喂食或玩耍时眼神交流有限或短暂</a:t>
            </a:r>
          </a:p>
          <a:p>
            <a:pPr algn="l"/>
            <a:r>
              <a:rPr lang="en-US" sz="2000">
                <a:solidFill>
                  <a:srgbClr val="0B1E3A"/>
                </a:solidFill>
                <a:latin typeface="Calibri"/>
                <a:ea typeface="PingFang SC"/>
              </a:rPr>
              <a:t>  Limited or fleeting eye contact during feeding or play</a:t>
            </a:r>
          </a:p>
          <a:p>
            <a:pPr algn="l"/>
            <a:endParaRPr lang="en-US" sz="2000">
              <a:solidFill>
                <a:srgbClr val="0B1E3A"/>
              </a:solidFill>
              <a:latin typeface="Calibri"/>
              <a:ea typeface="PingFang SC"/>
            </a:endParaRPr>
          </a:p>
          <a:p>
            <a:pPr algn="l"/>
            <a:r>
              <a:rPr lang="en-US" sz="2000">
                <a:solidFill>
                  <a:srgbClr val="0B1E3A"/>
                </a:solidFill>
                <a:latin typeface="Calibri"/>
                <a:ea typeface="PingFang SC"/>
              </a:rPr>
              <a:t>• 叫名字时没有反应（CDC 里程碑：约 9 个月）</a:t>
            </a:r>
          </a:p>
          <a:p>
            <a:pPr algn="l"/>
            <a:r>
              <a:rPr lang="en-US" sz="2000">
                <a:solidFill>
                  <a:srgbClr val="0B1E3A"/>
                </a:solidFill>
                <a:latin typeface="Calibri"/>
                <a:ea typeface="PingFang SC"/>
              </a:rPr>
              <a:t>  Not responding to name (CDC milestone: by about 9 months)</a:t>
            </a:r>
          </a:p>
          <a:p>
            <a:pPr algn="l"/>
            <a:endParaRPr lang="en-US" sz="2000">
              <a:solidFill>
                <a:srgbClr val="0B1E3A"/>
              </a:solidFill>
              <a:latin typeface="Calibri"/>
              <a:ea typeface="PingFang SC"/>
            </a:endParaRPr>
          </a:p>
          <a:p>
            <a:pPr algn="l"/>
            <a:r>
              <a:rPr lang="en-US" sz="2000">
                <a:solidFill>
                  <a:srgbClr val="0B1E3A"/>
                </a:solidFill>
                <a:latin typeface="Calibri"/>
                <a:ea typeface="PingFang SC"/>
              </a:rPr>
              <a:t>• 家长指向物体时不跟着看</a:t>
            </a:r>
          </a:p>
          <a:p>
            <a:pPr algn="l"/>
            <a:r>
              <a:rPr lang="en-US" sz="2000">
                <a:solidFill>
                  <a:srgbClr val="0B1E3A"/>
                </a:solidFill>
                <a:latin typeface="Calibri"/>
                <a:ea typeface="PingFang SC"/>
              </a:rPr>
              <a:t>  Not following when a parent points to an object</a:t>
            </a:r>
          </a:p>
          <a:p>
            <a:pPr algn="l"/>
            <a:endParaRPr lang="en-US" sz="2000">
              <a:solidFill>
                <a:srgbClr val="0B1E3A"/>
              </a:solidFill>
              <a:latin typeface="Calibri"/>
              <a:ea typeface="PingFang SC"/>
            </a:endParaRPr>
          </a:p>
          <a:p>
            <a:pPr algn="l"/>
            <a:r>
              <a:rPr lang="en-US" sz="2000">
                <a:solidFill>
                  <a:srgbClr val="0B1E3A"/>
                </a:solidFill>
                <a:latin typeface="Calibri"/>
                <a:ea typeface="PingFang SC"/>
              </a:rPr>
              <a:t>• 很少或没有假想游戏（CDC 里程碑：约 30 个月）</a:t>
            </a:r>
          </a:p>
          <a:p>
            <a:pPr algn="l"/>
            <a:r>
              <a:rPr lang="en-US" sz="2000">
                <a:solidFill>
                  <a:srgbClr val="0B1E3A"/>
                </a:solidFill>
                <a:latin typeface="Calibri"/>
                <a:ea typeface="PingFang SC"/>
              </a:rPr>
              <a:t>  Little or no pretend play (CDC milestone: by about 30 months)</a:t>
            </a:r>
          </a:p>
        </p:txBody>
      </p:sp>
      <p:sp>
        <p:nvSpPr>
          <p:cNvPr id="100056" name="TextBox 5"/>
          <p:cNvSpPr txBox="1"/>
          <p:nvPr/>
        </p:nvSpPr>
        <p:spPr>
          <a:xfrm>
            <a:off x="540000" y="5220000"/>
            <a:ext cx="10980000" cy="100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="t"/>
          <a:lstStyle/>
          <a:p>
            <a:pPr algn="l"/>
            <a:r>
              <a:rPr lang="en-US" sz="1500">
                <a:solidFill>
                  <a:srgbClr val="3D5775"/>
                </a:solidFill>
                <a:latin typeface="Calibri"/>
                <a:ea typeface="PingFang SC"/>
              </a:rPr>
              <a:t>里程碑年龄依据 CDC 2022 修订版；每个孩子发育节奏不同，有担忧请咨询儿科医生。</a:t>
            </a:r>
          </a:p>
          <a:p>
            <a:pPr algn="l"/>
            <a:r>
              <a:rPr lang="en-US" sz="1500">
                <a:solidFill>
                  <a:srgbClr val="3D5775"/>
                </a:solidFill>
                <a:latin typeface="Calibri"/>
                <a:ea typeface="PingFang SC"/>
              </a:rPr>
              <a:t>Milestone ages follow CDC's 2022 revised checklists; children develop at different rates. If you have concerns, talk to your pediatrician.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arly Signs Communication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57" name="AccentBar"/>
          <p:cNvSpPr txBox="1"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3B5CBF"/>
          </a:solidFill>
          <a:ln>
            <a:noFill/>
          </a:ln>
        </p:spPr>
        <p:txBody>
          <a:bodyPr/>
          <a:lstStyle/>
          <a:p>
            <a:endParaRPr lang="en-US" sz="100">
              <a:solidFill>
                <a:srgbClr val="3B5CBF"/>
              </a:solidFill>
            </a:endParaRPr>
          </a:p>
        </p:txBody>
      </p:sp>
      <p:sp>
        <p:nvSpPr>
          <p:cNvPr id="100058" name="Footer"/>
          <p:cNvSpPr txBox="1"/>
          <p:nvPr/>
        </p:nvSpPr>
        <p:spPr>
          <a:xfrm>
            <a:off x="457200" y="6462000"/>
            <a:ext cx="11160000" cy="28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="ctr"/>
          <a:lstStyle/>
          <a:p>
            <a:pPr algn="l"/>
            <a:r>
              <a:rPr lang="en-US" sz="1200">
                <a:solidFill>
                  <a:srgbClr val="3D5775"/>
                </a:solidFill>
                <a:latin typeface="Calibri"/>
                <a:ea typeface="PingFang SC"/>
              </a:rPr>
              <a:t>Early Autism Awareness Project · HCSTC · Oct 25, 2026</a:t>
            </a:r>
          </a:p>
        </p:txBody>
      </p:sp>
      <p:sp>
        <p:nvSpPr>
          <p:cNvPr id="100059" name="SlideTitle"/>
          <p:cNvSpPr txBox="1"/>
          <p:nvPr/>
        </p:nvSpPr>
        <p:spPr>
          <a:xfrm>
            <a:off x="540000" y="198000"/>
            <a:ext cx="10980000" cy="936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="t"/>
          <a:lstStyle/>
          <a:p>
            <a:pPr algn="l"/>
            <a:r>
              <a:rPr lang="en-US" sz="3000" b="1">
                <a:solidFill>
                  <a:srgbClr val="0B1E3A"/>
                </a:solidFill>
                <a:latin typeface="Georgia"/>
                <a:ea typeface="PingFang SC"/>
              </a:rPr>
              <a:t>识别早期迹象 · 沟通与行为</a:t>
            </a:r>
          </a:p>
          <a:p>
            <a:pPr algn="l"/>
            <a:r>
              <a:rPr lang="en-US" sz="3000" b="1">
                <a:solidFill>
                  <a:srgbClr val="0B1E3A"/>
                </a:solidFill>
                <a:latin typeface="Georgia"/>
                <a:ea typeface="PingFang SC"/>
              </a:rPr>
              <a:t>EARLY SIGNS · COMMUNICATION &amp; BEHAVIOR</a:t>
            </a:r>
          </a:p>
        </p:txBody>
      </p:sp>
      <p:sp>
        <p:nvSpPr>
          <p:cNvPr id="100060" name="TextBox 4"/>
          <p:cNvSpPr txBox="1"/>
          <p:nvPr/>
        </p:nvSpPr>
        <p:spPr>
          <a:xfrm>
            <a:off x="540000" y="1224000"/>
            <a:ext cx="10980000" cy="3456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="t"/>
          <a:lstStyle/>
          <a:p>
            <a:pPr algn="l"/>
            <a:r>
              <a:rPr lang="en-US" sz="1700">
                <a:solidFill>
                  <a:srgbClr val="0B1E3A"/>
                </a:solidFill>
                <a:latin typeface="Calibri"/>
                <a:ea typeface="PingFang SC"/>
              </a:rPr>
              <a:t>• 12 个月不会咿呀学语，或 16–18 个月不会说单个词</a:t>
            </a:r>
          </a:p>
          <a:p>
            <a:pPr algn="l"/>
            <a:r>
              <a:rPr lang="en-US" sz="1700">
                <a:solidFill>
                  <a:srgbClr val="0B1E3A"/>
                </a:solidFill>
                <a:latin typeface="Calibri"/>
                <a:ea typeface="PingFang SC"/>
              </a:rPr>
              <a:t>  No babbling by 12 months, or no single words by 16–18 months</a:t>
            </a:r>
          </a:p>
          <a:p>
            <a:pPr algn="l"/>
            <a:endParaRPr lang="en-US" sz="1700">
              <a:solidFill>
                <a:srgbClr val="0B1E3A"/>
              </a:solidFill>
              <a:latin typeface="Calibri"/>
              <a:ea typeface="PingFang SC"/>
            </a:endParaRPr>
          </a:p>
          <a:p>
            <a:pPr algn="l"/>
            <a:r>
              <a:rPr lang="en-US" sz="1700">
                <a:solidFill>
                  <a:srgbClr val="0B1E3A"/>
                </a:solidFill>
                <a:latin typeface="Calibri"/>
                <a:ea typeface="PingFang SC"/>
              </a:rPr>
              <a:t>• 12 个月不会挥手再见；15 个月不会用手指要东西；18 个月不会用手指给你看</a:t>
            </a:r>
          </a:p>
          <a:p>
            <a:pPr algn="l"/>
            <a:r>
              <a:rPr lang="en-US" sz="1700">
                <a:solidFill>
                  <a:srgbClr val="0B1E3A"/>
                </a:solidFill>
                <a:latin typeface="Calibri"/>
                <a:ea typeface="PingFang SC"/>
              </a:rPr>
              <a:t>  Not waving bye-bye by 12 months; not pointing to ask by 15 months; not pointing to show by 18 months</a:t>
            </a:r>
          </a:p>
          <a:p>
            <a:pPr algn="l"/>
            <a:endParaRPr lang="en-US" sz="1700">
              <a:solidFill>
                <a:srgbClr val="0B1E3A"/>
              </a:solidFill>
              <a:latin typeface="Calibri"/>
              <a:ea typeface="PingFang SC"/>
            </a:endParaRPr>
          </a:p>
          <a:p>
            <a:pPr algn="l"/>
            <a:r>
              <a:rPr lang="en-US" sz="1700">
                <a:solidFill>
                  <a:srgbClr val="0B1E3A"/>
                </a:solidFill>
                <a:latin typeface="Calibri"/>
                <a:ea typeface="PingFang SC"/>
              </a:rPr>
              <a:t>• 重复动作：拍手、摇晃、旋转物体</a:t>
            </a:r>
          </a:p>
          <a:p>
            <a:pPr algn="l"/>
            <a:r>
              <a:rPr lang="en-US" sz="1700">
                <a:solidFill>
                  <a:srgbClr val="0B1E3A"/>
                </a:solidFill>
                <a:latin typeface="Calibri"/>
                <a:ea typeface="PingFang SC"/>
              </a:rPr>
              <a:t>  Repetitive motions: hand-flapping, rocking, spinning objects</a:t>
            </a:r>
          </a:p>
          <a:p>
            <a:pPr algn="l"/>
            <a:endParaRPr lang="en-US" sz="1700">
              <a:solidFill>
                <a:srgbClr val="0B1E3A"/>
              </a:solidFill>
              <a:latin typeface="Calibri"/>
              <a:ea typeface="PingFang SC"/>
            </a:endParaRPr>
          </a:p>
          <a:p>
            <a:pPr algn="l"/>
            <a:r>
              <a:rPr lang="en-US" sz="1700">
                <a:solidFill>
                  <a:srgbClr val="0B1E3A"/>
                </a:solidFill>
                <a:latin typeface="Calibri"/>
                <a:ea typeface="PingFang SC"/>
              </a:rPr>
              <a:t>• 对日常声音或光线极度敏感</a:t>
            </a:r>
          </a:p>
          <a:p>
            <a:pPr algn="l"/>
            <a:r>
              <a:rPr lang="en-US" sz="1700">
                <a:solidFill>
                  <a:srgbClr val="0B1E3A"/>
                </a:solidFill>
                <a:latin typeface="Calibri"/>
                <a:ea typeface="PingFang SC"/>
              </a:rPr>
              <a:t>  Extreme distress with everyday sounds or lights</a:t>
            </a:r>
          </a:p>
        </p:txBody>
      </p:sp>
      <p:sp>
        <p:nvSpPr>
          <p:cNvPr id="100061" name="TextBox 5"/>
          <p:cNvSpPr txBox="1"/>
          <p:nvPr/>
        </p:nvSpPr>
        <p:spPr>
          <a:xfrm>
            <a:off x="540000" y="4788000"/>
            <a:ext cx="10980000" cy="1440000"/>
          </a:xfrm>
          <a:prstGeom prst="rect">
            <a:avLst/>
          </a:prstGeom>
          <a:solidFill>
            <a:srgbClr val="16204A"/>
          </a:solidFill>
          <a:ln>
            <a:noFill/>
          </a:ln>
        </p:spPr>
        <p:txBody>
          <a:bodyPr anchor="ctr"/>
          <a:lstStyle/>
          <a:p>
            <a:pPr algn="l"/>
            <a:r>
              <a:rPr lang="en-US" sz="1700" b="1">
                <a:solidFill>
                  <a:srgbClr val="FFE8B0"/>
                </a:solidFill>
                <a:latin typeface="Calibri"/>
                <a:ea typeface="PingFang SC"/>
              </a:rPr>
              <a:t>黄金法则（任何年龄）  ·  Golden rule (any age)</a:t>
            </a:r>
          </a:p>
          <a:p>
            <a:pPr algn="l"/>
            <a:r>
              <a:rPr lang="en-US" sz="1700" b="1">
                <a:solidFill>
                  <a:srgbClr val="FFE8B0"/>
                </a:solidFill>
                <a:latin typeface="Calibri"/>
                <a:ea typeface="PingFang SC"/>
              </a:rPr>
              <a:t>任何言语、眼神、手势或社交能力的倒退，请尽快咨询儿科医生。</a:t>
            </a:r>
          </a:p>
          <a:p>
            <a:pPr algn="l"/>
            <a:r>
              <a:rPr lang="en-US" sz="1700" b="1">
                <a:solidFill>
                  <a:srgbClr val="FFE8B0"/>
                </a:solidFill>
                <a:latin typeface="Calibri"/>
                <a:ea typeface="PingFang SC"/>
              </a:rPr>
              <a:t>Any regression in speech, eye contact, gestures, or social skills needs prompt evaluation by a pediatrician.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hat to Watch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62" name="AccentBar"/>
          <p:cNvSpPr txBox="1"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3B5CBF"/>
          </a:solidFill>
          <a:ln>
            <a:noFill/>
          </a:ln>
        </p:spPr>
        <p:txBody>
          <a:bodyPr/>
          <a:lstStyle/>
          <a:p>
            <a:endParaRPr lang="en-US" sz="100">
              <a:solidFill>
                <a:srgbClr val="3B5CBF"/>
              </a:solidFill>
            </a:endParaRPr>
          </a:p>
        </p:txBody>
      </p:sp>
      <p:sp>
        <p:nvSpPr>
          <p:cNvPr id="100063" name="Footer"/>
          <p:cNvSpPr txBox="1"/>
          <p:nvPr/>
        </p:nvSpPr>
        <p:spPr>
          <a:xfrm>
            <a:off x="457200" y="6462000"/>
            <a:ext cx="11160000" cy="28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="ctr"/>
          <a:lstStyle/>
          <a:p>
            <a:pPr algn="l"/>
            <a:r>
              <a:rPr lang="en-US" sz="1200">
                <a:solidFill>
                  <a:srgbClr val="3D5775"/>
                </a:solidFill>
                <a:latin typeface="Calibri"/>
                <a:ea typeface="PingFang SC"/>
              </a:rPr>
              <a:t>Early Autism Awareness Project · HCSTC · Oct 25, 2026</a:t>
            </a:r>
          </a:p>
        </p:txBody>
      </p:sp>
      <p:sp>
        <p:nvSpPr>
          <p:cNvPr id="100064" name="SlideTitle"/>
          <p:cNvSpPr txBox="1"/>
          <p:nvPr/>
        </p:nvSpPr>
        <p:spPr>
          <a:xfrm>
            <a:off x="540000" y="198000"/>
            <a:ext cx="10980000" cy="936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="t"/>
          <a:lstStyle/>
          <a:p>
            <a:pPr algn="l"/>
            <a:r>
              <a:rPr lang="en-US" sz="3000" b="1">
                <a:solidFill>
                  <a:srgbClr val="0B1E3A"/>
                </a:solidFill>
                <a:latin typeface="Georgia"/>
                <a:ea typeface="PingFang SC"/>
              </a:rPr>
              <a:t>居家观察要点</a:t>
            </a:r>
          </a:p>
          <a:p>
            <a:pPr algn="l"/>
            <a:r>
              <a:rPr lang="en-US" sz="3000" b="1">
                <a:solidFill>
                  <a:srgbClr val="0B1E3A"/>
                </a:solidFill>
                <a:latin typeface="Georgia"/>
                <a:ea typeface="PingFang SC"/>
              </a:rPr>
              <a:t>WHAT TO WATCH FOR AT HOME</a:t>
            </a:r>
          </a:p>
        </p:txBody>
      </p:sp>
      <p:sp>
        <p:nvSpPr>
          <p:cNvPr id="100065" name="TextBox 4"/>
          <p:cNvSpPr txBox="1"/>
          <p:nvPr/>
        </p:nvSpPr>
        <p:spPr>
          <a:xfrm>
            <a:off x="540000" y="1224000"/>
            <a:ext cx="10980000" cy="396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="ctr"/>
          <a:lstStyle/>
          <a:p>
            <a:pPr algn="l"/>
            <a:r>
              <a:rPr lang="en-US" sz="1800" b="1">
                <a:solidFill>
                  <a:srgbClr val="0B1E3A"/>
                </a:solidFill>
                <a:latin typeface="Calibri"/>
                <a:ea typeface="PingFang SC"/>
              </a:rPr>
              <a:t>留意这 4 件事  ·  Four things to watch for</a:t>
            </a:r>
          </a:p>
        </p:txBody>
      </p:sp>
      <p:sp>
        <p:nvSpPr>
          <p:cNvPr id="100066" name="TextBox 5"/>
          <p:cNvSpPr txBox="1"/>
          <p:nvPr/>
        </p:nvSpPr>
        <p:spPr>
          <a:xfrm>
            <a:off x="540000" y="1728000"/>
            <a:ext cx="5364000" cy="1332000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txBody>
          <a:bodyPr anchor="ctr"/>
          <a:lstStyle/>
          <a:p>
            <a:pPr algn="l"/>
            <a:r>
              <a:rPr lang="en-US" sz="1700">
                <a:solidFill>
                  <a:srgbClr val="0B1E3A"/>
                </a:solidFill>
                <a:latin typeface="Calibri"/>
                <a:ea typeface="PingFang SC"/>
              </a:rPr>
              <a:t>当你和孩子说话/玩耍时，他会看你吗？</a:t>
            </a:r>
          </a:p>
          <a:p>
            <a:pPr algn="l"/>
            <a:r>
              <a:rPr lang="en-US" sz="1700">
                <a:solidFill>
                  <a:srgbClr val="0B1E3A"/>
                </a:solidFill>
                <a:latin typeface="Calibri"/>
                <a:ea typeface="PingFang SC"/>
              </a:rPr>
              <a:t>Looks at you when you speak/play?</a:t>
            </a:r>
          </a:p>
        </p:txBody>
      </p:sp>
      <p:sp>
        <p:nvSpPr>
          <p:cNvPr id="100067" name="TextBox 6"/>
          <p:cNvSpPr txBox="1"/>
          <p:nvPr/>
        </p:nvSpPr>
        <p:spPr>
          <a:xfrm>
            <a:off x="6156000" y="1728000"/>
            <a:ext cx="5364000" cy="1332000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txBody>
          <a:bodyPr anchor="ctr"/>
          <a:lstStyle/>
          <a:p>
            <a:pPr algn="l"/>
            <a:r>
              <a:rPr lang="en-US" sz="1700">
                <a:solidFill>
                  <a:srgbClr val="0B1E3A"/>
                </a:solidFill>
                <a:latin typeface="Calibri"/>
                <a:ea typeface="PingFang SC"/>
              </a:rPr>
              <a:t>如果你指向玩具，孩子会看向玩具吗？</a:t>
            </a:r>
          </a:p>
          <a:p>
            <a:pPr algn="l"/>
            <a:r>
              <a:rPr lang="en-US" sz="1700">
                <a:solidFill>
                  <a:srgbClr val="0B1E3A"/>
                </a:solidFill>
                <a:latin typeface="Calibri"/>
                <a:ea typeface="PingFang SC"/>
              </a:rPr>
              <a:t>Looks at a toy when you point?</a:t>
            </a:r>
          </a:p>
        </p:txBody>
      </p:sp>
      <p:sp>
        <p:nvSpPr>
          <p:cNvPr id="100068" name="TextBox 7"/>
          <p:cNvSpPr txBox="1"/>
          <p:nvPr/>
        </p:nvSpPr>
        <p:spPr>
          <a:xfrm>
            <a:off x="540000" y="3168000"/>
            <a:ext cx="5364000" cy="1332000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txBody>
          <a:bodyPr anchor="ctr"/>
          <a:lstStyle/>
          <a:p>
            <a:pPr algn="l"/>
            <a:r>
              <a:rPr lang="en-US" sz="1700">
                <a:solidFill>
                  <a:srgbClr val="0B1E3A"/>
                </a:solidFill>
                <a:latin typeface="Calibri"/>
                <a:ea typeface="PingFang SC"/>
              </a:rPr>
              <a:t>孩子会指给你看有趣的东西吗？</a:t>
            </a:r>
          </a:p>
          <a:p>
            <a:pPr algn="l"/>
            <a:r>
              <a:rPr lang="en-US" sz="1700">
                <a:solidFill>
                  <a:srgbClr val="0B1E3A"/>
                </a:solidFill>
                <a:latin typeface="Calibri"/>
                <a:ea typeface="PingFang SC"/>
              </a:rPr>
              <a:t>Points to show you something interesting?</a:t>
            </a:r>
          </a:p>
        </p:txBody>
      </p:sp>
      <p:sp>
        <p:nvSpPr>
          <p:cNvPr id="100069" name="TextBox 8"/>
          <p:cNvSpPr txBox="1"/>
          <p:nvPr/>
        </p:nvSpPr>
        <p:spPr>
          <a:xfrm>
            <a:off x="6156000" y="3168000"/>
            <a:ext cx="5364000" cy="1332000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txBody>
          <a:bodyPr anchor="ctr"/>
          <a:lstStyle/>
          <a:p>
            <a:pPr algn="l"/>
            <a:r>
              <a:rPr lang="en-US" sz="1700">
                <a:solidFill>
                  <a:srgbClr val="0B1E3A"/>
                </a:solidFill>
                <a:latin typeface="Calibri"/>
                <a:ea typeface="PingFang SC"/>
              </a:rPr>
              <a:t>当你对孩子微笑时，他会回以微笑吗？</a:t>
            </a:r>
          </a:p>
          <a:p>
            <a:pPr algn="l"/>
            <a:r>
              <a:rPr lang="en-US" sz="1700">
                <a:solidFill>
                  <a:srgbClr val="0B1E3A"/>
                </a:solidFill>
                <a:latin typeface="Calibri"/>
                <a:ea typeface="PingFang SC"/>
              </a:rPr>
              <a:t>Smiles back when you smile?</a:t>
            </a:r>
          </a:p>
        </p:txBody>
      </p:sp>
      <p:sp>
        <p:nvSpPr>
          <p:cNvPr id="100070" name="TextBox 9"/>
          <p:cNvSpPr txBox="1"/>
          <p:nvPr/>
        </p:nvSpPr>
        <p:spPr>
          <a:xfrm>
            <a:off x="540000" y="4752000"/>
            <a:ext cx="10980000" cy="1440000"/>
          </a:xfrm>
          <a:prstGeom prst="rect">
            <a:avLst/>
          </a:prstGeom>
          <a:solidFill>
            <a:srgbClr val="FFE8D9"/>
          </a:solidFill>
          <a:ln>
            <a:noFill/>
          </a:ln>
        </p:spPr>
        <p:txBody>
          <a:bodyPr anchor="ctr"/>
          <a:lstStyle/>
          <a:p>
            <a:pPr algn="l"/>
            <a:r>
              <a:rPr lang="en-US" sz="1500" b="1">
                <a:solidFill>
                  <a:srgbClr val="0B1E3A"/>
                </a:solidFill>
                <a:latin typeface="Calibri"/>
                <a:ea typeface="PingFang SC"/>
              </a:rPr>
              <a:t>如果对其中任何一项不确定，或有其他担忧，请咨询儿科医生，并询问发育与自闭症筛查（如 M-CHAT-R/F）。这份清单不是筛查工具。</a:t>
            </a:r>
          </a:p>
          <a:p>
            <a:pPr algn="l"/>
            <a:r>
              <a:rPr lang="en-US" sz="1500" b="1">
                <a:solidFill>
                  <a:srgbClr val="0B1E3A"/>
                </a:solidFill>
                <a:latin typeface="Calibri"/>
                <a:ea typeface="PingFang SC"/>
              </a:rPr>
              <a:t>If you are unsure about any of these, or have other concerns, talk to your pediatrician and ask about developmental and autism screening (e.g., M-CHAT-R/F). This list is not a screening tool.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MV Resources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71" name="AccentBar"/>
          <p:cNvSpPr txBox="1"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3B5CBF"/>
          </a:solidFill>
          <a:ln>
            <a:noFill/>
          </a:ln>
        </p:spPr>
        <p:txBody>
          <a:bodyPr/>
          <a:lstStyle/>
          <a:p>
            <a:endParaRPr lang="en-US" sz="100">
              <a:solidFill>
                <a:srgbClr val="3B5CBF"/>
              </a:solidFill>
            </a:endParaRPr>
          </a:p>
        </p:txBody>
      </p:sp>
      <p:sp>
        <p:nvSpPr>
          <p:cNvPr id="100072" name="Footer"/>
          <p:cNvSpPr txBox="1"/>
          <p:nvPr/>
        </p:nvSpPr>
        <p:spPr>
          <a:xfrm>
            <a:off x="457200" y="6462000"/>
            <a:ext cx="11160000" cy="28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="ctr"/>
          <a:lstStyle/>
          <a:p>
            <a:pPr algn="l"/>
            <a:r>
              <a:rPr lang="en-US" sz="1200">
                <a:solidFill>
                  <a:srgbClr val="3D5775"/>
                </a:solidFill>
                <a:latin typeface="Calibri"/>
                <a:ea typeface="PingFang SC"/>
              </a:rPr>
              <a:t>Early Autism Awareness Project · HCSTC · Oct 25, 2026</a:t>
            </a:r>
          </a:p>
        </p:txBody>
      </p:sp>
      <p:sp>
        <p:nvSpPr>
          <p:cNvPr id="100073" name="SlideTitle"/>
          <p:cNvSpPr txBox="1"/>
          <p:nvPr/>
        </p:nvSpPr>
        <p:spPr>
          <a:xfrm>
            <a:off x="540000" y="198000"/>
            <a:ext cx="10980000" cy="936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="t"/>
          <a:lstStyle/>
          <a:p>
            <a:pPr algn="l"/>
            <a:r>
              <a:rPr lang="en-US" sz="3000" b="1">
                <a:solidFill>
                  <a:srgbClr val="0B1E3A"/>
                </a:solidFill>
                <a:latin typeface="Georgia"/>
                <a:ea typeface="PingFang SC"/>
              </a:rPr>
              <a:t>北维州本地资源</a:t>
            </a:r>
          </a:p>
          <a:p>
            <a:pPr algn="l"/>
            <a:r>
              <a:rPr lang="en-US" sz="3000" b="1">
                <a:solidFill>
                  <a:srgbClr val="0B1E3A"/>
                </a:solidFill>
                <a:latin typeface="Georgia"/>
                <a:ea typeface="PingFang SC"/>
              </a:rPr>
              <a:t>NORTHERN VIRGINIA (DMV) RESOURCES</a:t>
            </a:r>
          </a:p>
        </p:txBody>
      </p:sp>
      <p:sp>
        <p:nvSpPr>
          <p:cNvPr id="100074" name="TextBox 4"/>
          <p:cNvSpPr txBox="1"/>
          <p:nvPr/>
        </p:nvSpPr>
        <p:spPr>
          <a:xfrm>
            <a:off x="540000" y="1260000"/>
            <a:ext cx="10980000" cy="486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="t"/>
          <a:lstStyle/>
          <a:p>
            <a:pPr algn="l"/>
            <a:r>
              <a:rPr lang="en-US" sz="1700">
                <a:solidFill>
                  <a:srgbClr val="0B1E3A"/>
                </a:solidFill>
                <a:latin typeface="Calibri"/>
                <a:ea typeface="PingFang SC"/>
              </a:rPr>
              <a:t>• Infant &amp; Toddler Connection (ITC) (703) 246-7121：0–3 岁早期干预的统一入口，任何人都可转介；服务不论家庭支付能力。转介无需 SSN。</a:t>
            </a:r>
          </a:p>
          <a:p>
            <a:pPr algn="l"/>
            <a:r>
              <a:rPr lang="en-US" sz="1700">
                <a:solidFill>
                  <a:srgbClr val="0B1E3A"/>
                </a:solidFill>
                <a:latin typeface="Calibri"/>
                <a:ea typeface="PingFang SC"/>
              </a:rPr>
              <a:t>  ITC (703) 246-7121: single point of entry for early intervention, ages 0–3. Anyone can refer; services regardless of ability to pay. No SSN needed to make a referral.</a:t>
            </a:r>
          </a:p>
          <a:p>
            <a:pPr algn="l"/>
            <a:endParaRPr lang="en-US" sz="1700">
              <a:solidFill>
                <a:srgbClr val="0B1E3A"/>
              </a:solidFill>
              <a:latin typeface="Calibri"/>
              <a:ea typeface="PingFang SC"/>
            </a:endParaRPr>
          </a:p>
          <a:p>
            <a:pPr algn="l"/>
            <a:r>
              <a:rPr lang="en-US" sz="1700">
                <a:solidFill>
                  <a:srgbClr val="0B1E3A"/>
                </a:solidFill>
                <a:latin typeface="Calibri"/>
                <a:ea typeface="PingFang SC"/>
              </a:rPr>
              <a:t>• Child Find (FCPS) 571-423-4121：20 个月–5 岁免费发育筛查（Fairfax County / Fairfax City 居民）；孩子需在 9 月 30 日前满 2 岁。Falls Church City 另有自己的 Child Find。</a:t>
            </a:r>
          </a:p>
          <a:p>
            <a:pPr algn="l"/>
            <a:r>
              <a:rPr lang="en-US" sz="1700">
                <a:solidFill>
                  <a:srgbClr val="0B1E3A"/>
                </a:solidFill>
                <a:latin typeface="Calibri"/>
                <a:ea typeface="PingFang SC"/>
              </a:rPr>
              <a:t>  Free developmental screening, ages 20 months–5 years (Fairfax County / City residents); child must turn 2 by Sept 30. Falls Church City has its own Child Find.</a:t>
            </a:r>
          </a:p>
          <a:p>
            <a:pPr algn="l"/>
            <a:endParaRPr lang="en-US" sz="1700">
              <a:solidFill>
                <a:srgbClr val="0B1E3A"/>
              </a:solidFill>
              <a:latin typeface="Calibri"/>
              <a:ea typeface="PingFang SC"/>
            </a:endParaRPr>
          </a:p>
          <a:p>
            <a:pPr algn="l"/>
            <a:r>
              <a:rPr lang="en-US" sz="1700">
                <a:solidFill>
                  <a:srgbClr val="0B1E3A"/>
                </a:solidFill>
                <a:latin typeface="Calibri"/>
                <a:ea typeface="PingFang SC"/>
              </a:rPr>
              <a:t>• Autism Society of Northern Virginia (ASNV) · asnv.org：讲座、家庭支持与社区资源。</a:t>
            </a:r>
          </a:p>
          <a:p>
            <a:pPr algn="l"/>
            <a:r>
              <a:rPr lang="en-US" sz="1700">
                <a:solidFill>
                  <a:srgbClr val="0B1E3A"/>
                </a:solidFill>
                <a:latin typeface="Calibri"/>
                <a:ea typeface="PingFang SC"/>
              </a:rPr>
              <a:t>  Education programs, support groups, and community resources.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ational Resources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75" name="AccentBar"/>
          <p:cNvSpPr txBox="1"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3B5CBF"/>
          </a:solidFill>
          <a:ln>
            <a:noFill/>
          </a:ln>
        </p:spPr>
        <p:txBody>
          <a:bodyPr/>
          <a:lstStyle/>
          <a:p>
            <a:endParaRPr lang="en-US" sz="100">
              <a:solidFill>
                <a:srgbClr val="3B5CBF"/>
              </a:solidFill>
            </a:endParaRPr>
          </a:p>
        </p:txBody>
      </p:sp>
      <p:sp>
        <p:nvSpPr>
          <p:cNvPr id="100076" name="Footer"/>
          <p:cNvSpPr txBox="1"/>
          <p:nvPr/>
        </p:nvSpPr>
        <p:spPr>
          <a:xfrm>
            <a:off x="457200" y="6462000"/>
            <a:ext cx="11160000" cy="28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="ctr"/>
          <a:lstStyle/>
          <a:p>
            <a:pPr algn="l"/>
            <a:r>
              <a:rPr lang="en-US" sz="1200">
                <a:solidFill>
                  <a:srgbClr val="3D5775"/>
                </a:solidFill>
                <a:latin typeface="Calibri"/>
                <a:ea typeface="PingFang SC"/>
              </a:rPr>
              <a:t>Early Autism Awareness Project · HCSTC · Oct 25, 2026</a:t>
            </a:r>
          </a:p>
        </p:txBody>
      </p:sp>
      <p:sp>
        <p:nvSpPr>
          <p:cNvPr id="100077" name="SlideTitle"/>
          <p:cNvSpPr txBox="1"/>
          <p:nvPr/>
        </p:nvSpPr>
        <p:spPr>
          <a:xfrm>
            <a:off x="540000" y="198000"/>
            <a:ext cx="10980000" cy="936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="t"/>
          <a:lstStyle/>
          <a:p>
            <a:pPr algn="l"/>
            <a:r>
              <a:rPr lang="en-US" sz="3000" b="1">
                <a:solidFill>
                  <a:srgbClr val="0B1E3A"/>
                </a:solidFill>
                <a:latin typeface="Georgia"/>
                <a:ea typeface="PingFang SC"/>
              </a:rPr>
              <a:t>美国全国资源</a:t>
            </a:r>
          </a:p>
          <a:p>
            <a:pPr algn="l"/>
            <a:r>
              <a:rPr lang="en-US" sz="3000" b="1">
                <a:solidFill>
                  <a:srgbClr val="0B1E3A"/>
                </a:solidFill>
                <a:latin typeface="Georgia"/>
                <a:ea typeface="PingFang SC"/>
              </a:rPr>
              <a:t>U.S. NATIONAL RESOURCES</a:t>
            </a:r>
          </a:p>
        </p:txBody>
      </p:sp>
      <p:sp>
        <p:nvSpPr>
          <p:cNvPr id="100078" name="TextBox 4"/>
          <p:cNvSpPr txBox="1"/>
          <p:nvPr/>
        </p:nvSpPr>
        <p:spPr>
          <a:xfrm>
            <a:off x="540000" y="1260000"/>
            <a:ext cx="10980000" cy="396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="t"/>
          <a:lstStyle/>
          <a:p>
            <a:pPr algn="l"/>
            <a:r>
              <a:rPr lang="en-US" sz="1800">
                <a:solidFill>
                  <a:srgbClr val="0B1E3A"/>
                </a:solidFill>
                <a:latin typeface="Calibri"/>
                <a:ea typeface="PingFang SC"/>
              </a:rPr>
              <a:t>• CDC "Learn the Signs. Act Early"：免费里程碑清单与家庭追踪工具（含中文资料）。</a:t>
            </a:r>
          </a:p>
          <a:p>
            <a:pPr algn="l"/>
            <a:r>
              <a:rPr lang="en-US" sz="1800">
                <a:solidFill>
                  <a:srgbClr val="0B1E3A"/>
                </a:solidFill>
                <a:latin typeface="Calibri"/>
                <a:ea typeface="PingFang SC"/>
              </a:rPr>
              <a:t>  Free milestone checklists and family trackers (materials available in Chinese).</a:t>
            </a:r>
          </a:p>
          <a:p>
            <a:pPr algn="l"/>
            <a:endParaRPr lang="en-US" sz="1800">
              <a:solidFill>
                <a:srgbClr val="0B1E3A"/>
              </a:solidFill>
              <a:latin typeface="Calibri"/>
              <a:ea typeface="PingFang SC"/>
            </a:endParaRPr>
          </a:p>
          <a:p>
            <a:pPr algn="l"/>
            <a:r>
              <a:rPr lang="en-US" sz="1800">
                <a:solidFill>
                  <a:srgbClr val="0B1E3A"/>
                </a:solidFill>
                <a:latin typeface="Calibri"/>
                <a:ea typeface="PingFang SC"/>
              </a:rPr>
              <a:t>• Autism Speaks 100-Day Kit：确诊后 100 天的实用行动指南（适用于 4 岁及以下儿童家庭；有中文版）。</a:t>
            </a:r>
          </a:p>
          <a:p>
            <a:pPr algn="l"/>
            <a:r>
              <a:rPr lang="en-US" sz="1800">
                <a:solidFill>
                  <a:srgbClr val="0B1E3A"/>
                </a:solidFill>
                <a:latin typeface="Calibri"/>
                <a:ea typeface="PingFang SC"/>
              </a:rPr>
              <a:t>  Practical first-100-days toolkit after a diagnosis (children 4 and under; Chinese available).</a:t>
            </a:r>
          </a:p>
          <a:p>
            <a:pPr algn="l"/>
            <a:endParaRPr lang="en-US" sz="1800">
              <a:solidFill>
                <a:srgbClr val="0B1E3A"/>
              </a:solidFill>
              <a:latin typeface="Calibri"/>
              <a:ea typeface="PingFang SC"/>
            </a:endParaRPr>
          </a:p>
          <a:p>
            <a:pPr algn="l"/>
            <a:r>
              <a:rPr lang="en-US" sz="1800">
                <a:solidFill>
                  <a:srgbClr val="0B1E3A"/>
                </a:solidFill>
                <a:latin typeface="Calibri"/>
                <a:ea typeface="PingFang SC"/>
              </a:rPr>
              <a:t>• NIH / NICHD：自闭症与早期干预循证信息。</a:t>
            </a:r>
          </a:p>
          <a:p>
            <a:pPr algn="l"/>
            <a:r>
              <a:rPr lang="en-US" sz="1800">
                <a:solidFill>
                  <a:srgbClr val="0B1E3A"/>
                </a:solidFill>
                <a:latin typeface="Calibri"/>
                <a:ea typeface="PingFang SC"/>
              </a:rPr>
              <a:t>  Evidence-based autism and early intervention information.</a:t>
            </a:r>
          </a:p>
          <a:p>
            <a:pPr algn="l"/>
            <a:endParaRPr lang="en-US" sz="1800">
              <a:solidFill>
                <a:srgbClr val="0B1E3A"/>
              </a:solidFill>
              <a:latin typeface="Calibri"/>
              <a:ea typeface="PingFang SC"/>
            </a:endParaRPr>
          </a:p>
          <a:p>
            <a:pPr algn="l"/>
            <a:r>
              <a:rPr lang="en-US" sz="1800">
                <a:solidFill>
                  <a:srgbClr val="0B1E3A"/>
                </a:solidFill>
                <a:latin typeface="Calibri"/>
                <a:ea typeface="PingFang SC"/>
              </a:rPr>
              <a:t>• 本项目网站：双语宣传册、互动筛查工具与资源列表。</a:t>
            </a:r>
          </a:p>
          <a:p>
            <a:pPr algn="l"/>
            <a:r>
              <a:rPr lang="en-US" sz="1800">
                <a:solidFill>
                  <a:srgbClr val="0B1E3A"/>
                </a:solidFill>
                <a:latin typeface="Calibri"/>
                <a:ea typeface="PingFang SC"/>
              </a:rPr>
              <a:t>  Our site: bilingual pamphlets, interactive screener, and resource list.</a:t>
            </a:r>
          </a:p>
        </p:txBody>
      </p:sp>
      <p:sp>
        <p:nvSpPr>
          <p:cNvPr id="100079" name="TextBox 5"/>
          <p:cNvSpPr txBox="1"/>
          <p:nvPr/>
        </p:nvSpPr>
        <p:spPr>
          <a:xfrm>
            <a:off x="540000" y="5400000"/>
            <a:ext cx="10980000" cy="504000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2200" b="1">
                <a:solidFill>
                  <a:srgbClr val="3B5CBF"/>
                </a:solidFill>
                <a:latin typeface="Calibri"/>
                <a:ea typeface="PingFang SC"/>
              </a:rPr>
              <a:t>emmaz-sv.github.io/early-autism-awareness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ur Steps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80" name="AccentBar"/>
          <p:cNvSpPr txBox="1"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3B5CBF"/>
          </a:solidFill>
          <a:ln>
            <a:noFill/>
          </a:ln>
        </p:spPr>
        <p:txBody>
          <a:bodyPr/>
          <a:lstStyle/>
          <a:p>
            <a:endParaRPr lang="en-US" sz="100">
              <a:solidFill>
                <a:srgbClr val="3B5CBF"/>
              </a:solidFill>
            </a:endParaRPr>
          </a:p>
        </p:txBody>
      </p:sp>
      <p:sp>
        <p:nvSpPr>
          <p:cNvPr id="100081" name="Footer"/>
          <p:cNvSpPr txBox="1"/>
          <p:nvPr/>
        </p:nvSpPr>
        <p:spPr>
          <a:xfrm>
            <a:off x="457200" y="6462000"/>
            <a:ext cx="11160000" cy="28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="ctr"/>
          <a:lstStyle/>
          <a:p>
            <a:pPr algn="l"/>
            <a:r>
              <a:rPr lang="en-US" sz="1200">
                <a:solidFill>
                  <a:srgbClr val="3D5775"/>
                </a:solidFill>
                <a:latin typeface="Calibri"/>
                <a:ea typeface="PingFang SC"/>
              </a:rPr>
              <a:t>Early Autism Awareness Project · HCSTC · Oct 25, 2026</a:t>
            </a:r>
          </a:p>
        </p:txBody>
      </p:sp>
      <p:sp>
        <p:nvSpPr>
          <p:cNvPr id="100082" name="SlideTitle"/>
          <p:cNvSpPr txBox="1"/>
          <p:nvPr/>
        </p:nvSpPr>
        <p:spPr>
          <a:xfrm>
            <a:off x="540000" y="198000"/>
            <a:ext cx="10980000" cy="936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="t"/>
          <a:lstStyle/>
          <a:p>
            <a:pPr algn="l"/>
            <a:r>
              <a:rPr lang="en-US" sz="3000" b="1">
                <a:solidFill>
                  <a:srgbClr val="0B1E3A"/>
                </a:solidFill>
                <a:latin typeface="Georgia"/>
                <a:ea typeface="PingFang SC"/>
              </a:rPr>
              <a:t>寻求支持 4 步骤</a:t>
            </a:r>
          </a:p>
          <a:p>
            <a:pPr algn="l"/>
            <a:r>
              <a:rPr lang="en-US" sz="3000" b="1">
                <a:solidFill>
                  <a:srgbClr val="0B1E3A"/>
                </a:solidFill>
                <a:latin typeface="Georgia"/>
                <a:ea typeface="PingFang SC"/>
              </a:rPr>
              <a:t>4 STEPS TO SEEK SUPPORT</a:t>
            </a:r>
          </a:p>
        </p:txBody>
      </p:sp>
      <p:sp>
        <p:nvSpPr>
          <p:cNvPr id="100083" name="TextBox 4"/>
          <p:cNvSpPr txBox="1"/>
          <p:nvPr/>
        </p:nvSpPr>
        <p:spPr>
          <a:xfrm>
            <a:off x="540000" y="1260000"/>
            <a:ext cx="792000" cy="1116000"/>
          </a:xfrm>
          <a:prstGeom prst="rect">
            <a:avLst/>
          </a:prstGeom>
          <a:solidFill>
            <a:srgbClr val="3B5CBF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3600" b="1">
                <a:solidFill>
                  <a:srgbClr val="FFFFFF"/>
                </a:solidFill>
                <a:latin typeface="Georgia"/>
                <a:ea typeface="PingFang SC"/>
              </a:rPr>
              <a:t>1</a:t>
            </a:r>
          </a:p>
        </p:txBody>
      </p:sp>
      <p:sp>
        <p:nvSpPr>
          <p:cNvPr id="100084" name="TextBox 5"/>
          <p:cNvSpPr txBox="1"/>
          <p:nvPr/>
        </p:nvSpPr>
        <p:spPr>
          <a:xfrm>
            <a:off x="1404000" y="1260000"/>
            <a:ext cx="10116000" cy="1116000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txBody>
          <a:bodyPr anchor="ctr"/>
          <a:lstStyle/>
          <a:p>
            <a:pPr algn="l"/>
            <a:r>
              <a:rPr lang="en-US" sz="1600">
                <a:solidFill>
                  <a:srgbClr val="0B1E3A"/>
                </a:solidFill>
                <a:latin typeface="Calibri"/>
                <a:ea typeface="PingFang SC"/>
              </a:rPr>
              <a:t>观察与记录 · Observe &amp; track</a:t>
            </a:r>
          </a:p>
          <a:p>
            <a:pPr algn="l"/>
            <a:r>
              <a:rPr lang="en-US" sz="1600">
                <a:solidFill>
                  <a:srgbClr val="0B1E3A"/>
                </a:solidFill>
                <a:latin typeface="Calibri"/>
                <a:ea typeface="PingFang SC"/>
              </a:rPr>
              <a:t>记下具体担忧，对照里程碑清单。 Track concerns with milestone checklists.</a:t>
            </a:r>
          </a:p>
        </p:txBody>
      </p:sp>
      <p:sp>
        <p:nvSpPr>
          <p:cNvPr id="100085" name="TextBox 6"/>
          <p:cNvSpPr txBox="1"/>
          <p:nvPr/>
        </p:nvSpPr>
        <p:spPr>
          <a:xfrm>
            <a:off x="540000" y="2484000"/>
            <a:ext cx="792000" cy="1116000"/>
          </a:xfrm>
          <a:prstGeom prst="rect">
            <a:avLst/>
          </a:prstGeom>
          <a:solidFill>
            <a:srgbClr val="3B5CBF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3600" b="1">
                <a:solidFill>
                  <a:srgbClr val="FFFFFF"/>
                </a:solidFill>
                <a:latin typeface="Georgia"/>
                <a:ea typeface="PingFang SC"/>
              </a:rPr>
              <a:t>2</a:t>
            </a:r>
          </a:p>
        </p:txBody>
      </p:sp>
      <p:sp>
        <p:nvSpPr>
          <p:cNvPr id="100086" name="TextBox 7"/>
          <p:cNvSpPr txBox="1"/>
          <p:nvPr/>
        </p:nvSpPr>
        <p:spPr>
          <a:xfrm>
            <a:off x="1404000" y="2484000"/>
            <a:ext cx="10116000" cy="1116000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txBody>
          <a:bodyPr anchor="ctr"/>
          <a:lstStyle/>
          <a:p>
            <a:pPr algn="l"/>
            <a:r>
              <a:rPr lang="en-US" sz="1600">
                <a:solidFill>
                  <a:srgbClr val="0B1E3A"/>
                </a:solidFill>
                <a:latin typeface="Calibri"/>
                <a:ea typeface="PingFang SC"/>
              </a:rPr>
              <a:t>咨询儿科医生 · Ask pediatrician</a:t>
            </a:r>
          </a:p>
          <a:p>
            <a:pPr algn="l"/>
            <a:r>
              <a:rPr lang="en-US" sz="1600">
                <a:solidFill>
                  <a:srgbClr val="0B1E3A"/>
                </a:solidFill>
                <a:latin typeface="Calibri"/>
                <a:ea typeface="PingFang SC"/>
              </a:rPr>
              <a:t>主动要求 M-CHAT-R/F 筛查。 Ask for an M-CHAT-R/F screen.</a:t>
            </a:r>
          </a:p>
        </p:txBody>
      </p:sp>
      <p:sp>
        <p:nvSpPr>
          <p:cNvPr id="100087" name="TextBox 8"/>
          <p:cNvSpPr txBox="1"/>
          <p:nvPr/>
        </p:nvSpPr>
        <p:spPr>
          <a:xfrm>
            <a:off x="540000" y="3708000"/>
            <a:ext cx="792000" cy="1116000"/>
          </a:xfrm>
          <a:prstGeom prst="rect">
            <a:avLst/>
          </a:prstGeom>
          <a:solidFill>
            <a:srgbClr val="3B5CBF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3600" b="1">
                <a:solidFill>
                  <a:srgbClr val="FFFFFF"/>
                </a:solidFill>
                <a:latin typeface="Georgia"/>
                <a:ea typeface="PingFang SC"/>
              </a:rPr>
              <a:t>3</a:t>
            </a:r>
          </a:p>
        </p:txBody>
      </p:sp>
      <p:sp>
        <p:nvSpPr>
          <p:cNvPr id="100088" name="TextBox 9"/>
          <p:cNvSpPr txBox="1"/>
          <p:nvPr/>
        </p:nvSpPr>
        <p:spPr>
          <a:xfrm>
            <a:off x="1404000" y="3708000"/>
            <a:ext cx="10116000" cy="1116000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txBody>
          <a:bodyPr anchor="ctr"/>
          <a:lstStyle/>
          <a:p>
            <a:pPr algn="l"/>
            <a:r>
              <a:rPr lang="en-US" sz="1600">
                <a:solidFill>
                  <a:srgbClr val="0B1E3A"/>
                </a:solidFill>
                <a:latin typeface="Calibri"/>
                <a:ea typeface="PingFang SC"/>
              </a:rPr>
              <a:t>综合评估 · Full evaluation</a:t>
            </a:r>
          </a:p>
          <a:p>
            <a:pPr algn="l"/>
            <a:r>
              <a:rPr lang="en-US" sz="1600">
                <a:solidFill>
                  <a:srgbClr val="0B1E3A"/>
                </a:solidFill>
                <a:latin typeface="Calibri"/>
                <a:ea typeface="PingFang SC"/>
              </a:rPr>
              <a:t>中高风险时转介发育儿科或早期干预团队。 Refer if moderate/high risk.</a:t>
            </a:r>
          </a:p>
        </p:txBody>
      </p:sp>
      <p:sp>
        <p:nvSpPr>
          <p:cNvPr id="100089" name="TextBox 10"/>
          <p:cNvSpPr txBox="1"/>
          <p:nvPr/>
        </p:nvSpPr>
        <p:spPr>
          <a:xfrm>
            <a:off x="540000" y="4932000"/>
            <a:ext cx="792000" cy="1116000"/>
          </a:xfrm>
          <a:prstGeom prst="rect">
            <a:avLst/>
          </a:prstGeom>
          <a:solidFill>
            <a:srgbClr val="3B5CBF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3600" b="1">
                <a:solidFill>
                  <a:srgbClr val="FFFFFF"/>
                </a:solidFill>
                <a:latin typeface="Georgia"/>
                <a:ea typeface="PingFang SC"/>
              </a:rPr>
              <a:t>4</a:t>
            </a:r>
          </a:p>
        </p:txBody>
      </p:sp>
      <p:sp>
        <p:nvSpPr>
          <p:cNvPr id="100090" name="TextBox 11"/>
          <p:cNvSpPr txBox="1"/>
          <p:nvPr/>
        </p:nvSpPr>
        <p:spPr>
          <a:xfrm>
            <a:off x="1404000" y="4932000"/>
            <a:ext cx="10116000" cy="1116000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txBody>
          <a:bodyPr anchor="ctr"/>
          <a:lstStyle/>
          <a:p>
            <a:pPr algn="l"/>
            <a:r>
              <a:rPr lang="en-US" sz="1600">
                <a:solidFill>
                  <a:srgbClr val="0B1E3A"/>
                </a:solidFill>
                <a:latin typeface="Calibri"/>
                <a:ea typeface="PingFang SC"/>
              </a:rPr>
              <a:t>启动早期干预 · Start early intervention</a:t>
            </a:r>
          </a:p>
          <a:p>
            <a:pPr algn="l"/>
            <a:r>
              <a:rPr lang="en-US" sz="1600">
                <a:solidFill>
                  <a:srgbClr val="0B1E3A"/>
                </a:solidFill>
                <a:latin typeface="Calibri"/>
                <a:ea typeface="PingFang SC"/>
              </a:rPr>
              <a:t>Fairfax ITC (703) 246-7121（0–3）或 FCPS Child Find 571-423-4121（20 个月–5 岁）。怀疑有迟缓即可转介；转介无需 SSN。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ction Plan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91" name="AccentBar"/>
          <p:cNvSpPr txBox="1"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3B5CBF"/>
          </a:solidFill>
          <a:ln>
            <a:noFill/>
          </a:ln>
        </p:spPr>
        <p:txBody>
          <a:bodyPr/>
          <a:lstStyle/>
          <a:p>
            <a:endParaRPr lang="en-US" sz="100">
              <a:solidFill>
                <a:srgbClr val="3B5CBF"/>
              </a:solidFill>
            </a:endParaRPr>
          </a:p>
        </p:txBody>
      </p:sp>
      <p:sp>
        <p:nvSpPr>
          <p:cNvPr id="100092" name="Footer"/>
          <p:cNvSpPr txBox="1"/>
          <p:nvPr/>
        </p:nvSpPr>
        <p:spPr>
          <a:xfrm>
            <a:off x="457200" y="6462000"/>
            <a:ext cx="11160000" cy="28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="ctr"/>
          <a:lstStyle/>
          <a:p>
            <a:pPr algn="l"/>
            <a:r>
              <a:rPr lang="en-US" sz="1200">
                <a:solidFill>
                  <a:srgbClr val="3D5775"/>
                </a:solidFill>
                <a:latin typeface="Calibri"/>
                <a:ea typeface="PingFang SC"/>
              </a:rPr>
              <a:t>Early Autism Awareness Project · HCSTC · Oct 25, 2026</a:t>
            </a:r>
          </a:p>
        </p:txBody>
      </p:sp>
      <p:sp>
        <p:nvSpPr>
          <p:cNvPr id="100093" name="SlideTitle"/>
          <p:cNvSpPr txBox="1"/>
          <p:nvPr/>
        </p:nvSpPr>
        <p:spPr>
          <a:xfrm>
            <a:off x="540000" y="198000"/>
            <a:ext cx="10980000" cy="936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="t"/>
          <a:lstStyle/>
          <a:p>
            <a:pPr algn="l"/>
            <a:r>
              <a:rPr lang="en-US" sz="3000" b="1">
                <a:solidFill>
                  <a:srgbClr val="0B1E3A"/>
                </a:solidFill>
                <a:latin typeface="Georgia"/>
                <a:ea typeface="PingFang SC"/>
              </a:rPr>
              <a:t>家长今日行动清单</a:t>
            </a:r>
          </a:p>
          <a:p>
            <a:pPr algn="l"/>
            <a:r>
              <a:rPr lang="en-US" sz="3000" b="1">
                <a:solidFill>
                  <a:srgbClr val="0B1E3A"/>
                </a:solidFill>
                <a:latin typeface="Georgia"/>
                <a:ea typeface="PingFang SC"/>
              </a:rPr>
              <a:t>ACTION PLAN FOR TODAY</a:t>
            </a:r>
          </a:p>
        </p:txBody>
      </p:sp>
      <p:sp>
        <p:nvSpPr>
          <p:cNvPr id="100094" name="TextBox 4"/>
          <p:cNvSpPr txBox="1"/>
          <p:nvPr/>
        </p:nvSpPr>
        <p:spPr>
          <a:xfrm>
            <a:off x="540000" y="1260000"/>
            <a:ext cx="5364000" cy="1656000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txBody>
          <a:bodyPr anchor="ctr"/>
          <a:lstStyle/>
          <a:p>
            <a:pPr algn="l"/>
            <a:r>
              <a:rPr lang="en-US" sz="1700" b="1">
                <a:solidFill>
                  <a:srgbClr val="0B1E3A"/>
                </a:solidFill>
                <a:latin typeface="Calibri"/>
                <a:ea typeface="PingFang SC"/>
              </a:rPr>
              <a:t>带回一份手册</a:t>
            </a:r>
          </a:p>
          <a:p>
            <a:pPr algn="l"/>
            <a:r>
              <a:rPr lang="en-US" sz="1700" b="1">
                <a:solidFill>
                  <a:srgbClr val="0B1E3A"/>
                </a:solidFill>
                <a:latin typeface="Calibri"/>
                <a:ea typeface="PingFang SC"/>
              </a:rPr>
              <a:t>Take a pamphlet home</a:t>
            </a:r>
          </a:p>
          <a:p>
            <a:pPr algn="l"/>
            <a:endParaRPr lang="en-US" sz="1700" b="1">
              <a:solidFill>
                <a:srgbClr val="0B1E3A"/>
              </a:solidFill>
              <a:latin typeface="Calibri"/>
              <a:ea typeface="PingFang SC"/>
            </a:endParaRPr>
          </a:p>
          <a:p>
            <a:pPr algn="l"/>
            <a:r>
              <a:rPr lang="en-US" sz="1700" b="1">
                <a:solidFill>
                  <a:srgbClr val="0B1E3A"/>
                </a:solidFill>
                <a:latin typeface="Calibri"/>
                <a:ea typeface="PingFang SC"/>
              </a:rPr>
              <a:t>把早期预警检查表贴在冰箱上。</a:t>
            </a:r>
          </a:p>
          <a:p>
            <a:pPr algn="l"/>
            <a:r>
              <a:rPr lang="en-US" sz="1700" b="1">
                <a:solidFill>
                  <a:srgbClr val="0B1E3A"/>
                </a:solidFill>
                <a:latin typeface="Calibri"/>
                <a:ea typeface="PingFang SC"/>
              </a:rPr>
              <a:t>Keep the checklist on your refrigerator.</a:t>
            </a:r>
          </a:p>
        </p:txBody>
      </p:sp>
      <p:sp>
        <p:nvSpPr>
          <p:cNvPr id="100095" name="TextBox 5"/>
          <p:cNvSpPr txBox="1"/>
          <p:nvPr/>
        </p:nvSpPr>
        <p:spPr>
          <a:xfrm>
            <a:off x="6156000" y="1260000"/>
            <a:ext cx="5364000" cy="1656000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txBody>
          <a:bodyPr anchor="ctr"/>
          <a:lstStyle/>
          <a:p>
            <a:pPr algn="l"/>
            <a:r>
              <a:rPr lang="en-US" sz="1700" b="1" dirty="0" err="1">
                <a:solidFill>
                  <a:srgbClr val="0B1E3A"/>
                </a:solidFill>
                <a:latin typeface="Calibri"/>
                <a:ea typeface="PingFang SC"/>
              </a:rPr>
              <a:t>追踪发育里程碑</a:t>
            </a:r>
            <a:endParaRPr lang="en-US" sz="1700" b="1" dirty="0">
              <a:solidFill>
                <a:srgbClr val="0B1E3A"/>
              </a:solidFill>
              <a:latin typeface="Calibri"/>
              <a:ea typeface="PingFang SC"/>
            </a:endParaRPr>
          </a:p>
          <a:p>
            <a:pPr algn="l"/>
            <a:r>
              <a:rPr lang="en-US" sz="1700" b="1" dirty="0">
                <a:solidFill>
                  <a:srgbClr val="0B1E3A"/>
                </a:solidFill>
                <a:latin typeface="Calibri"/>
                <a:ea typeface="PingFang SC"/>
              </a:rPr>
              <a:t>Track milestones</a:t>
            </a:r>
          </a:p>
          <a:p>
            <a:pPr algn="l"/>
            <a:endParaRPr lang="en-US" sz="1700" b="1" dirty="0">
              <a:solidFill>
                <a:srgbClr val="0B1E3A"/>
              </a:solidFill>
              <a:latin typeface="Calibri"/>
              <a:ea typeface="PingFang SC"/>
            </a:endParaRPr>
          </a:p>
          <a:p>
            <a:pPr algn="l"/>
            <a:r>
              <a:rPr lang="en-US" sz="1700" b="1" dirty="0" err="1">
                <a:solidFill>
                  <a:srgbClr val="0B1E3A"/>
                </a:solidFill>
                <a:latin typeface="Calibri"/>
                <a:ea typeface="PingFang SC"/>
              </a:rPr>
              <a:t>观察孩子未来两周的沟通与互动</a:t>
            </a:r>
            <a:r>
              <a:rPr lang="en-US" sz="1700" b="1" dirty="0">
                <a:solidFill>
                  <a:srgbClr val="0B1E3A"/>
                </a:solidFill>
                <a:latin typeface="Calibri"/>
                <a:ea typeface="PingFang SC"/>
              </a:rPr>
              <a:t>。</a:t>
            </a:r>
          </a:p>
          <a:p>
            <a:pPr algn="l"/>
            <a:r>
              <a:rPr lang="en-US" sz="1700" b="1" dirty="0">
                <a:solidFill>
                  <a:srgbClr val="0B1E3A"/>
                </a:solidFill>
                <a:latin typeface="Calibri"/>
                <a:ea typeface="PingFang SC"/>
              </a:rPr>
              <a:t>Watch communication and interaction over the next 2 weeks.</a:t>
            </a:r>
          </a:p>
        </p:txBody>
      </p:sp>
      <p:sp>
        <p:nvSpPr>
          <p:cNvPr id="100096" name="TextBox 6"/>
          <p:cNvSpPr txBox="1"/>
          <p:nvPr/>
        </p:nvSpPr>
        <p:spPr>
          <a:xfrm>
            <a:off x="540000" y="3060000"/>
            <a:ext cx="5364000" cy="1656000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txBody>
          <a:bodyPr anchor="ctr"/>
          <a:lstStyle/>
          <a:p>
            <a:pPr algn="l"/>
            <a:r>
              <a:rPr lang="en-US" sz="1700" b="1">
                <a:solidFill>
                  <a:srgbClr val="0B1E3A"/>
                </a:solidFill>
                <a:latin typeface="Calibri"/>
                <a:ea typeface="PingFang SC"/>
              </a:rPr>
              <a:t>约儿科 / 拨打 ITC</a:t>
            </a:r>
          </a:p>
          <a:p>
            <a:pPr algn="l"/>
            <a:r>
              <a:rPr lang="en-US" sz="1700" b="1">
                <a:solidFill>
                  <a:srgbClr val="0B1E3A"/>
                </a:solidFill>
                <a:latin typeface="Calibri"/>
                <a:ea typeface="PingFang SC"/>
              </a:rPr>
              <a:t>Call pediatrician or ITC</a:t>
            </a:r>
          </a:p>
          <a:p>
            <a:pPr algn="l"/>
            <a:endParaRPr lang="en-US" sz="1700" b="1">
              <a:solidFill>
                <a:srgbClr val="0B1E3A"/>
              </a:solidFill>
              <a:latin typeface="Calibri"/>
              <a:ea typeface="PingFang SC"/>
            </a:endParaRPr>
          </a:p>
          <a:p>
            <a:pPr algn="l"/>
            <a:r>
              <a:rPr lang="en-US" sz="1700" b="1">
                <a:solidFill>
                  <a:srgbClr val="0B1E3A"/>
                </a:solidFill>
                <a:latin typeface="Calibri"/>
                <a:ea typeface="PingFang SC"/>
              </a:rPr>
              <a:t>保存 ITC (703) 246-7121（0–3 岁）；要求筛查。</a:t>
            </a:r>
          </a:p>
          <a:p>
            <a:pPr algn="l"/>
            <a:r>
              <a:rPr lang="en-US" sz="1700" b="1">
                <a:solidFill>
                  <a:srgbClr val="0B1E3A"/>
                </a:solidFill>
                <a:latin typeface="Calibri"/>
                <a:ea typeface="PingFang SC"/>
              </a:rPr>
              <a:t>Save ITC (703) 246-7121 (ages 0–3); request screening.</a:t>
            </a:r>
          </a:p>
        </p:txBody>
      </p:sp>
      <p:sp>
        <p:nvSpPr>
          <p:cNvPr id="100097" name="TextBox 7"/>
          <p:cNvSpPr txBox="1"/>
          <p:nvPr/>
        </p:nvSpPr>
        <p:spPr>
          <a:xfrm>
            <a:off x="6156000" y="3060000"/>
            <a:ext cx="5364000" cy="1656000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txBody>
          <a:bodyPr anchor="ctr"/>
          <a:lstStyle/>
          <a:p>
            <a:pPr algn="l"/>
            <a:r>
              <a:rPr lang="en-US" sz="1700" b="1">
                <a:solidFill>
                  <a:srgbClr val="0B1E3A"/>
                </a:solidFill>
                <a:latin typeface="Calibri"/>
                <a:ea typeface="PingFang SC"/>
              </a:rPr>
              <a:t>扫码访问网站</a:t>
            </a:r>
          </a:p>
          <a:p>
            <a:pPr algn="l"/>
            <a:r>
              <a:rPr lang="en-US" sz="1700" b="1">
                <a:solidFill>
                  <a:srgbClr val="0B1E3A"/>
                </a:solidFill>
                <a:latin typeface="Calibri"/>
                <a:ea typeface="PingFang SC"/>
              </a:rPr>
              <a:t>Scan the website</a:t>
            </a:r>
          </a:p>
          <a:p>
            <a:pPr algn="l"/>
            <a:endParaRPr lang="en-US" sz="1700" b="1">
              <a:solidFill>
                <a:srgbClr val="0B1E3A"/>
              </a:solidFill>
              <a:latin typeface="Calibri"/>
              <a:ea typeface="PingFang SC"/>
            </a:endParaRPr>
          </a:p>
          <a:p>
            <a:pPr algn="l"/>
            <a:r>
              <a:rPr lang="en-US" sz="1700" b="1">
                <a:solidFill>
                  <a:srgbClr val="0B1E3A"/>
                </a:solidFill>
                <a:latin typeface="Calibri"/>
                <a:ea typeface="PingFang SC"/>
              </a:rPr>
              <a:t>免费双语资料与互动筛查工具。</a:t>
            </a:r>
          </a:p>
          <a:p>
            <a:pPr algn="l"/>
            <a:r>
              <a:rPr lang="en-US" sz="1700" b="1">
                <a:solidFill>
                  <a:srgbClr val="0B1E3A"/>
                </a:solidFill>
                <a:latin typeface="Calibri"/>
                <a:ea typeface="PingFang SC"/>
              </a:rPr>
              <a:t>Free bilingual materials and interactive screener.</a:t>
            </a:r>
          </a:p>
        </p:txBody>
      </p:sp>
      <p:pic>
        <p:nvPicPr>
          <p:cNvPr id="100098" name="Picture 1" descr="QR code to bilingual autism awareness websi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8606" y="4616748"/>
            <a:ext cx="1962504" cy="196250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Key Takeaway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99" name="AccentBar"/>
          <p:cNvSpPr txBox="1"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3B5CBF"/>
          </a:solidFill>
          <a:ln>
            <a:noFill/>
          </a:ln>
        </p:spPr>
        <p:txBody>
          <a:bodyPr/>
          <a:lstStyle/>
          <a:p>
            <a:endParaRPr lang="en-US" sz="100">
              <a:solidFill>
                <a:srgbClr val="3B5CBF"/>
              </a:solidFill>
            </a:endParaRPr>
          </a:p>
        </p:txBody>
      </p:sp>
      <p:sp>
        <p:nvSpPr>
          <p:cNvPr id="100100" name="Footer"/>
          <p:cNvSpPr txBox="1"/>
          <p:nvPr/>
        </p:nvSpPr>
        <p:spPr>
          <a:xfrm>
            <a:off x="457200" y="6462000"/>
            <a:ext cx="11160000" cy="28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="ctr"/>
          <a:lstStyle/>
          <a:p>
            <a:pPr algn="l"/>
            <a:r>
              <a:rPr lang="en-US" sz="1200">
                <a:solidFill>
                  <a:srgbClr val="3D5775"/>
                </a:solidFill>
                <a:latin typeface="Calibri"/>
                <a:ea typeface="PingFang SC"/>
              </a:rPr>
              <a:t>Early Autism Awareness Project · HCSTC · Oct 25, 2026</a:t>
            </a:r>
          </a:p>
        </p:txBody>
      </p:sp>
      <p:sp>
        <p:nvSpPr>
          <p:cNvPr id="100101" name="SlideTitle"/>
          <p:cNvSpPr txBox="1"/>
          <p:nvPr/>
        </p:nvSpPr>
        <p:spPr>
          <a:xfrm>
            <a:off x="540000" y="198000"/>
            <a:ext cx="10980000" cy="936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="t"/>
          <a:lstStyle/>
          <a:p>
            <a:pPr algn="l"/>
            <a:r>
              <a:rPr lang="en-US" sz="3000" b="1">
                <a:solidFill>
                  <a:srgbClr val="0B1E3A"/>
                </a:solidFill>
                <a:latin typeface="Georgia"/>
                <a:ea typeface="PingFang SC"/>
              </a:rPr>
              <a:t>核心要点</a:t>
            </a:r>
          </a:p>
          <a:p>
            <a:pPr algn="l"/>
            <a:r>
              <a:rPr lang="en-US" sz="3000" b="1">
                <a:solidFill>
                  <a:srgbClr val="0B1E3A"/>
                </a:solidFill>
                <a:latin typeface="Georgia"/>
                <a:ea typeface="PingFang SC"/>
              </a:rPr>
              <a:t>KEY TAKEAWAY</a:t>
            </a:r>
          </a:p>
        </p:txBody>
      </p:sp>
      <p:sp>
        <p:nvSpPr>
          <p:cNvPr id="100102" name="TextBox 4"/>
          <p:cNvSpPr txBox="1"/>
          <p:nvPr/>
        </p:nvSpPr>
        <p:spPr>
          <a:xfrm>
            <a:off x="540000" y="1260000"/>
            <a:ext cx="10980000" cy="1080000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3200" b="1">
                <a:solidFill>
                  <a:srgbClr val="0B1E3A"/>
                </a:solidFill>
                <a:latin typeface="Georgia"/>
                <a:ea typeface="PingFang SC"/>
              </a:rPr>
              <a:t>早期发现，及时帮助</a:t>
            </a:r>
          </a:p>
          <a:p>
            <a:pPr algn="ctr"/>
            <a:r>
              <a:rPr lang="en-US" sz="3200" b="1">
                <a:solidFill>
                  <a:srgbClr val="0B1E3A"/>
                </a:solidFill>
                <a:latin typeface="Georgia"/>
                <a:ea typeface="PingFang SC"/>
              </a:rPr>
              <a:t>EARLY DETECTION · TIMELY SUPPORT</a:t>
            </a:r>
          </a:p>
        </p:txBody>
      </p:sp>
      <p:sp>
        <p:nvSpPr>
          <p:cNvPr id="100103" name="TextBox 5"/>
          <p:cNvSpPr txBox="1"/>
          <p:nvPr/>
        </p:nvSpPr>
        <p:spPr>
          <a:xfrm>
            <a:off x="540000" y="2520000"/>
            <a:ext cx="10980000" cy="648000"/>
          </a:xfrm>
          <a:prstGeom prst="rect">
            <a:avLst/>
          </a:prstGeom>
          <a:solidFill>
            <a:srgbClr val="FFE8D9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2000" b="1">
                <a:solidFill>
                  <a:srgbClr val="B85042"/>
                </a:solidFill>
                <a:latin typeface="Calibri"/>
                <a:ea typeface="PingFang SC"/>
              </a:rPr>
              <a:t>不要等待 · DON'T WAIT     不要观望 · DON'T "WAIT AND SEE"</a:t>
            </a:r>
          </a:p>
        </p:txBody>
      </p:sp>
      <p:sp>
        <p:nvSpPr>
          <p:cNvPr id="100104" name="TextBox 6"/>
          <p:cNvSpPr txBox="1"/>
          <p:nvPr/>
        </p:nvSpPr>
        <p:spPr>
          <a:xfrm>
            <a:off x="540000" y="3384000"/>
            <a:ext cx="10980000" cy="270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="t"/>
          <a:lstStyle/>
          <a:p>
            <a:pPr algn="l"/>
            <a:r>
              <a:rPr lang="en-US" sz="2000">
                <a:solidFill>
                  <a:srgbClr val="0B1E3A"/>
                </a:solidFill>
                <a:latin typeface="Calibri"/>
                <a:ea typeface="PingFang SC"/>
              </a:rPr>
              <a:t>• 如果发现迹象，立即寻求帮助。  If you notice signs, seek help promptly.</a:t>
            </a:r>
          </a:p>
          <a:p>
            <a:pPr algn="l"/>
            <a:endParaRPr lang="en-US" sz="2000">
              <a:solidFill>
                <a:srgbClr val="0B1E3A"/>
              </a:solidFill>
              <a:latin typeface="Calibri"/>
              <a:ea typeface="PingFang SC"/>
            </a:endParaRPr>
          </a:p>
          <a:p>
            <a:pPr algn="l"/>
            <a:r>
              <a:rPr lang="en-US" sz="2000">
                <a:solidFill>
                  <a:srgbClr val="0B1E3A"/>
                </a:solidFill>
                <a:latin typeface="Calibri"/>
                <a:ea typeface="PingFang SC"/>
              </a:rPr>
              <a:t>• 越早开始干预，通常效果越好。  The earlier support starts, the better outcomes tend to be.</a:t>
            </a:r>
          </a:p>
          <a:p>
            <a:pPr algn="l"/>
            <a:endParaRPr lang="en-US" sz="2000">
              <a:solidFill>
                <a:srgbClr val="0B1E3A"/>
              </a:solidFill>
              <a:latin typeface="Calibri"/>
              <a:ea typeface="PingFang SC"/>
            </a:endParaRPr>
          </a:p>
          <a:p>
            <a:pPr algn="l"/>
            <a:r>
              <a:rPr lang="en-US" sz="2000">
                <a:solidFill>
                  <a:srgbClr val="0B1E3A"/>
                </a:solidFill>
                <a:latin typeface="Calibri"/>
                <a:ea typeface="PingFang SC"/>
              </a:rPr>
              <a:t>• 你是孩子最好的倡导者；转介无需 SSN。</a:t>
            </a:r>
          </a:p>
          <a:p>
            <a:pPr algn="l"/>
            <a:r>
              <a:rPr lang="en-US" sz="2000">
                <a:solidFill>
                  <a:srgbClr val="0B1E3A"/>
                </a:solidFill>
                <a:latin typeface="Calibri"/>
                <a:ea typeface="PingFang SC"/>
              </a:rPr>
              <a:t>  You are your child's best advocate; a referral does not require an SSN.</a:t>
            </a: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ank You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05" name="AccentBar"/>
          <p:cNvSpPr txBox="1"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3B5CBF"/>
          </a:solidFill>
          <a:ln>
            <a:noFill/>
          </a:ln>
        </p:spPr>
        <p:txBody>
          <a:bodyPr/>
          <a:lstStyle/>
          <a:p>
            <a:endParaRPr lang="en-US" sz="100">
              <a:solidFill>
                <a:srgbClr val="3B5CBF"/>
              </a:solidFill>
            </a:endParaRPr>
          </a:p>
        </p:txBody>
      </p:sp>
      <p:sp>
        <p:nvSpPr>
          <p:cNvPr id="100106" name="Footer"/>
          <p:cNvSpPr txBox="1"/>
          <p:nvPr/>
        </p:nvSpPr>
        <p:spPr>
          <a:xfrm>
            <a:off x="457200" y="6462000"/>
            <a:ext cx="11160000" cy="28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="ctr"/>
          <a:lstStyle/>
          <a:p>
            <a:pPr algn="l"/>
            <a:r>
              <a:rPr lang="en-US" sz="1200">
                <a:solidFill>
                  <a:srgbClr val="3D5775"/>
                </a:solidFill>
                <a:latin typeface="Calibri"/>
                <a:ea typeface="PingFang SC"/>
              </a:rPr>
              <a:t>Early Autism Awareness Project · HCSTC · Oct 25, 2026</a:t>
            </a:r>
          </a:p>
        </p:txBody>
      </p:sp>
      <p:sp>
        <p:nvSpPr>
          <p:cNvPr id="100107" name="SlideTitle"/>
          <p:cNvSpPr txBox="1"/>
          <p:nvPr/>
        </p:nvSpPr>
        <p:spPr>
          <a:xfrm>
            <a:off x="540000" y="198000"/>
            <a:ext cx="10980000" cy="936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="t"/>
          <a:lstStyle/>
          <a:p>
            <a:pPr algn="l"/>
            <a:r>
              <a:rPr lang="en-US" sz="3000" b="1">
                <a:solidFill>
                  <a:srgbClr val="0B1E3A"/>
                </a:solidFill>
                <a:latin typeface="Georgia"/>
                <a:ea typeface="PingFang SC"/>
              </a:rPr>
              <a:t>谢谢</a:t>
            </a:r>
          </a:p>
          <a:p>
            <a:pPr algn="l"/>
            <a:r>
              <a:rPr lang="en-US" sz="3000" b="1">
                <a:solidFill>
                  <a:srgbClr val="0B1E3A"/>
                </a:solidFill>
                <a:latin typeface="Georgia"/>
                <a:ea typeface="PingFang SC"/>
              </a:rPr>
              <a:t>THANK YOU</a:t>
            </a:r>
          </a:p>
        </p:txBody>
      </p:sp>
      <p:sp>
        <p:nvSpPr>
          <p:cNvPr id="100108" name="TextBox 4"/>
          <p:cNvSpPr txBox="1"/>
          <p:nvPr/>
        </p:nvSpPr>
        <p:spPr>
          <a:xfrm>
            <a:off x="540000" y="1260000"/>
            <a:ext cx="10980000" cy="64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2800" b="1">
                <a:solidFill>
                  <a:srgbClr val="0B1E3A"/>
                </a:solidFill>
                <a:latin typeface="Calibri"/>
                <a:ea typeface="PingFang SC"/>
              </a:rPr>
              <a:t>问答环节  ·  Questions &amp; Answers</a:t>
            </a:r>
          </a:p>
        </p:txBody>
      </p:sp>
      <p:sp>
        <p:nvSpPr>
          <p:cNvPr id="100109" name="TextBox 5"/>
          <p:cNvSpPr txBox="1"/>
          <p:nvPr/>
        </p:nvSpPr>
        <p:spPr>
          <a:xfrm>
            <a:off x="540000" y="2160000"/>
            <a:ext cx="7200000" cy="187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="t"/>
          <a:lstStyle/>
          <a:p>
            <a:pPr algn="l"/>
            <a:r>
              <a:rPr lang="en-US" sz="2200" dirty="0">
                <a:solidFill>
                  <a:srgbClr val="0B1E3A"/>
                </a:solidFill>
                <a:latin typeface="Calibri"/>
                <a:ea typeface="PingFang SC"/>
              </a:rPr>
              <a:t>Emma Zheng · </a:t>
            </a:r>
            <a:r>
              <a:rPr lang="en-US" sz="2200" dirty="0" err="1">
                <a:solidFill>
                  <a:srgbClr val="0B1E3A"/>
                </a:solidFill>
                <a:latin typeface="Calibri"/>
                <a:ea typeface="PingFang SC"/>
              </a:rPr>
              <a:t>ezhengva@gmail.com</a:t>
            </a:r>
            <a:endParaRPr lang="en-US" sz="2200" dirty="0">
              <a:solidFill>
                <a:srgbClr val="0B1E3A"/>
              </a:solidFill>
              <a:latin typeface="Calibri"/>
              <a:ea typeface="PingFang SC"/>
            </a:endParaRPr>
          </a:p>
          <a:p>
            <a:pPr algn="l"/>
            <a:r>
              <a:rPr lang="en-US" sz="2200" dirty="0" err="1">
                <a:solidFill>
                  <a:srgbClr val="0B1E3A"/>
                </a:solidFill>
                <a:latin typeface="Calibri"/>
                <a:ea typeface="PingFang SC"/>
              </a:rPr>
              <a:t>emmaz-sv.github.io</a:t>
            </a:r>
            <a:r>
              <a:rPr lang="en-US" sz="2200" dirty="0">
                <a:solidFill>
                  <a:srgbClr val="0B1E3A"/>
                </a:solidFill>
                <a:latin typeface="Calibri"/>
                <a:ea typeface="PingFang SC"/>
              </a:rPr>
              <a:t>/early-autism-awareness</a:t>
            </a:r>
          </a:p>
          <a:p>
            <a:pPr algn="l"/>
            <a:r>
              <a:rPr lang="en-US" sz="2200" dirty="0">
                <a:solidFill>
                  <a:srgbClr val="0B1E3A"/>
                </a:solidFill>
                <a:latin typeface="Calibri"/>
                <a:ea typeface="PingFang SC"/>
              </a:rPr>
              <a:t>Fairfax ITC · (703) 246-7121</a:t>
            </a:r>
          </a:p>
        </p:txBody>
      </p:sp>
      <p:pic>
        <p:nvPicPr>
          <p:cNvPr id="100110" name="Picture 1" descr="QR code to bilingual autism awareness websi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7091" y="1883439"/>
            <a:ext cx="2472561" cy="2472561"/>
          </a:xfrm>
          <a:prstGeom prst="rect">
            <a:avLst/>
          </a:prstGeom>
        </p:spPr>
      </p:pic>
      <p:sp>
        <p:nvSpPr>
          <p:cNvPr id="100111" name="TextBox 6"/>
          <p:cNvSpPr txBox="1"/>
          <p:nvPr/>
        </p:nvSpPr>
        <p:spPr>
          <a:xfrm>
            <a:off x="8100000" y="4464000"/>
            <a:ext cx="3060000" cy="756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="t"/>
          <a:lstStyle/>
          <a:p>
            <a:pPr algn="ctr"/>
            <a:r>
              <a:rPr lang="en-US" sz="1600">
                <a:solidFill>
                  <a:srgbClr val="3D5775"/>
                </a:solidFill>
                <a:latin typeface="Calibri"/>
                <a:ea typeface="PingFang SC"/>
              </a:rPr>
              <a:t>扫码获取在线资源</a:t>
            </a:r>
          </a:p>
          <a:p>
            <a:pPr algn="ctr"/>
            <a:r>
              <a:rPr lang="en-US" sz="1600">
                <a:solidFill>
                  <a:srgbClr val="3D5775"/>
                </a:solidFill>
                <a:latin typeface="Calibri"/>
                <a:ea typeface="PingFang SC"/>
              </a:rPr>
              <a:t>Scan for online resources</a:t>
            </a:r>
          </a:p>
        </p:txBody>
      </p:sp>
      <p:sp>
        <p:nvSpPr>
          <p:cNvPr id="100112" name="TextBox 7"/>
          <p:cNvSpPr txBox="1"/>
          <p:nvPr/>
        </p:nvSpPr>
        <p:spPr>
          <a:xfrm>
            <a:off x="540000" y="5328000"/>
            <a:ext cx="10980000" cy="828000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800" b="1">
                <a:solidFill>
                  <a:srgbClr val="3B5CBF"/>
                </a:solidFill>
                <a:latin typeface="Calibri"/>
                <a:ea typeface="PingFang SC"/>
              </a:rPr>
              <a:t>早期发现 · 及时帮助 · 点亮未来</a:t>
            </a:r>
          </a:p>
          <a:p>
            <a:pPr algn="ctr"/>
            <a:r>
              <a:rPr lang="en-US" sz="1800" b="1">
                <a:solidFill>
                  <a:srgbClr val="3B5CBF"/>
                </a:solidFill>
                <a:latin typeface="Calibri"/>
                <a:ea typeface="PingFang SC"/>
              </a:rPr>
              <a:t>Early detection · Timely support · Brighter futures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2007</Words>
  <Application>Microsoft Macintosh PowerPoint</Application>
  <PresentationFormat>Widescreen</PresentationFormat>
  <Paragraphs>253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OfficeCLI</dc:creator>
  <cp:lastModifiedBy>Microsoft Office User</cp:lastModifiedBy>
  <cp:revision>3</cp:revision>
  <dcterms:created xsi:type="dcterms:W3CDTF">2026-10-18T19:42:10Z</dcterms:created>
  <dcterms:modified xsi:type="dcterms:W3CDTF">2026-10-18T19:46:04Z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ceCLI.Version">
    <vt:lpwstr>1.0.157</vt:lpwstr>
  </property>
  <property fmtid="{D5CDD505-2E9C-101B-9397-08002B2CF9AE}" pid="3" name="OfficeCLI.LastModified">
    <vt:lpwstr>2026-10-18T19:42:29Z</vt:lpwstr>
  </property>
</Properties>
</file>